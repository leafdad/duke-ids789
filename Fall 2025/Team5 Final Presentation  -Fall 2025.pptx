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0ed7e7348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90ed7e7348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0ed7e7348_9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90ed7e7348_9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e92d56c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e92d56c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92d56c9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ae92d56c9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e92d56c9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ae92d56c9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e92d56c9a_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ae92d56c9a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e92d56c9a_2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ae92d56c9a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0ed7e7348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90ed7e7348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e92d56c9a_2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ae92d56c9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0ed7e7348_1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90ed7e7348_1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0ed7e7348_1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90ed7e7348_1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e92d56c9a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3ae92d56c9a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e92d56c9a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e92d56c9a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0ed7e7348_2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90ed7e7348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0ed7e7348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90ed7e7348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0ed7e7348_2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90ed7e7348_2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e92d56c9a_4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ae92d56c9a_4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e92d56c9a_4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3ae92d56c9a_4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0ed7e7348_2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90ed7e7348_2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0ed7e7348_2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90ed7e7348_2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914400" y="1312500"/>
            <a:ext cx="73152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i="0" u="none" strike="noStrike" cap="non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AI-Powered Cryptocurrency Funding Rate Arbitrage</a:t>
            </a:r>
            <a:endParaRPr/>
          </a:p>
        </p:txBody>
      </p:sp>
      <p:sp>
        <p:nvSpPr>
          <p:cNvPr id="130" name="Google Shape;130;p25"/>
          <p:cNvSpPr txBox="1"/>
          <p:nvPr/>
        </p:nvSpPr>
        <p:spPr>
          <a:xfrm>
            <a:off x="873475" y="2726885"/>
            <a:ext cx="73152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Math 789: Quantitative Finance | Final Project Report</a:t>
            </a:r>
            <a:endParaRPr sz="20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	                              			 Group 5</a:t>
            </a:r>
            <a:endParaRPr sz="20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Caleb Carlyle</a:t>
            </a:r>
            <a:endParaRPr sz="20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Fernando Villegas</a:t>
            </a:r>
            <a:endParaRPr sz="20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Leo Yao</a:t>
            </a:r>
            <a:endParaRPr sz="20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Xinkai Yuan</a:t>
            </a:r>
            <a:endParaRPr sz="20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457200" y="940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 Refresher on Funding Rate Arbitrage</a:t>
            </a:r>
            <a:endParaRPr sz="28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457200" y="754375"/>
            <a:ext cx="82296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735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Perpetual Futures: Hold long/short position indefinitely—can only be forced out by liquidation.</a:t>
            </a: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735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Funding payments keep their price aligned to the spot price.</a:t>
            </a: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Market-neutral strategy: Earn profit from the funding payments.</a:t>
            </a:r>
            <a:endParaRPr/>
          </a:p>
        </p:txBody>
      </p:sp>
      <p:pic>
        <p:nvPicPr>
          <p:cNvPr id="138" name="Google Shape;138;p26" title="8bd6edda-6836-460d-a2b3-5b91055126f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152" y="2727825"/>
            <a:ext cx="3469701" cy="231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457200" y="940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Modeling the Market</a:t>
            </a:r>
            <a:endParaRPr sz="28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7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457200" y="754375"/>
            <a:ext cx="8229600" cy="1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7465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300"/>
              <a:buFont typeface="Calibri"/>
              <a:buChar char="●"/>
            </a:pPr>
            <a:r>
              <a:rPr lang="en" sz="23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Three quantities to model: the funding rate, the spot price and the perp price.</a:t>
            </a:r>
            <a:endParaRPr sz="23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23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he funding rate is defined by:</a:t>
            </a:r>
            <a:endParaRPr sz="23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3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609900" y="2966388"/>
            <a:ext cx="80769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For simplicity we assume the interest rate term and the anchoring strength to be constant.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7" name="Google Shape;147;p27" title="CodeCogsEqn-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1520" y="4106800"/>
            <a:ext cx="996013" cy="31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7" title="CodeCogsEqn-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250" y="4052350"/>
            <a:ext cx="2786574" cy="3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 title="CodeCogsEqn-1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6950" y="2134950"/>
            <a:ext cx="2622800" cy="69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/>
        </p:nvSpPr>
        <p:spPr>
          <a:xfrm>
            <a:off x="457200" y="940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Modeling the Funding Rate and the Spot Price</a:t>
            </a:r>
            <a:endParaRPr sz="28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8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390400" y="729325"/>
            <a:ext cx="8296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funding rate exhibits mean reverting behaviour, so we modeled it with an Ornstein-Uhlenbeck (OU) process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8" title="CodeCogsEqn-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200" y="1795125"/>
            <a:ext cx="3603167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 title="CodeCogsEqn-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300" y="1766063"/>
            <a:ext cx="3341955" cy="3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8"/>
          <p:cNvSpPr txBox="1"/>
          <p:nvPr/>
        </p:nvSpPr>
        <p:spPr>
          <a:xfrm>
            <a:off x="498875" y="2310150"/>
            <a:ext cx="8296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We modeled the spot price using Geometric Brownian Motion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8" title="CodeCogsEqn-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1488" y="3255400"/>
            <a:ext cx="4721033" cy="3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 title="CodeCogsEqn-1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9250" y="3783275"/>
            <a:ext cx="2225519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/>
        </p:nvSpPr>
        <p:spPr>
          <a:xfrm>
            <a:off x="457200" y="940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Pricing Perpetual Futures</a:t>
            </a:r>
            <a:endParaRPr sz="28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9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457200" y="754375"/>
            <a:ext cx="8229600" cy="11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735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Finally, we can solve for the perp price in terms of the spot price and the funding rate:</a:t>
            </a: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9"/>
          <p:cNvSpPr txBox="1"/>
          <p:nvPr/>
        </p:nvSpPr>
        <p:spPr>
          <a:xfrm>
            <a:off x="559500" y="2571750"/>
            <a:ext cx="8025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All values are adjusted to 8 hour periods and come from real market statistics.</a:t>
            </a: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Simulating the data also prevents the AI agent from already knowing the answer.</a:t>
            </a: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9" title="CodeCogsEqn-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6888" y="1691328"/>
            <a:ext cx="5230223" cy="59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/>
        </p:nvSpPr>
        <p:spPr>
          <a:xfrm>
            <a:off x="457200" y="1633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AI agent</a:t>
            </a:r>
            <a:endParaRPr/>
          </a:p>
        </p:txBody>
      </p:sp>
      <p:sp>
        <p:nvSpPr>
          <p:cNvPr id="176" name="Google Shape;176;p30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457200" y="754375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0"/>
          <p:cNvSpPr txBox="1"/>
          <p:nvPr/>
        </p:nvSpPr>
        <p:spPr>
          <a:xfrm>
            <a:off x="500775" y="800850"/>
            <a:ext cx="8346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411225" y="966625"/>
            <a:ext cx="85257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Doubao (ByteDance) — low cost, OpenAI-compatible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Portfolio manager invoked every 8h to analyze funding rates and allocate capital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Decision Rules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Short when funding positive, long when negative; allocate proportionally to funding magnitude; only execute when confidence exceeds threshold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/>
        </p:nvSpPr>
        <p:spPr>
          <a:xfrm>
            <a:off x="457200" y="1633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1"/>
          <p:cNvSpPr txBox="1"/>
          <p:nvPr/>
        </p:nvSpPr>
        <p:spPr>
          <a:xfrm>
            <a:off x="457200" y="754375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500775" y="800850"/>
            <a:ext cx="8346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775" y="1004900"/>
            <a:ext cx="7434624" cy="379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/>
        </p:nvSpPr>
        <p:spPr>
          <a:xfrm>
            <a:off x="457200" y="1633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457200" y="754375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500775" y="800850"/>
            <a:ext cx="8346600" cy="41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endParaRPr sz="25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30 days × 3 periods/day = 90 decision points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 assets: BTC, ETH, BNB, DOGE, SOL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$10,000 capital, 1x leverage, 0.115% entry cost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Execution Pipeline</a:t>
            </a:r>
            <a:endParaRPr sz="25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Generate funding rates (OU process)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AI agent analyzes → action + allocation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Record P&amp;L, log decisions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/>
        </p:nvSpPr>
        <p:spPr>
          <a:xfrm>
            <a:off x="457200" y="1633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/>
          </a:p>
        </p:txBody>
      </p:sp>
      <p:sp>
        <p:nvSpPr>
          <p:cNvPr id="202" name="Google Shape;202;p33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457200" y="754375"/>
            <a:ext cx="8229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3"/>
          <p:cNvSpPr txBox="1"/>
          <p:nvPr/>
        </p:nvSpPr>
        <p:spPr>
          <a:xfrm>
            <a:off x="500775" y="800850"/>
            <a:ext cx="8346600" cy="45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sz="25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Per-Period: 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funding rates, agent decisions, P&amp;L breakdown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Aggregate: 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return, Sharpe, MDD, win rate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 Agent Role</a:t>
            </a:r>
            <a:endParaRPr sz="25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Asset Selection: 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shift allocation as funding rates evolve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Position Timing: 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balance funding income vs transaction costs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Confidence Gate: 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threshold = 0.3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/>
        </p:nvSpPr>
        <p:spPr>
          <a:xfrm>
            <a:off x="457200" y="2057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  <p:sp>
        <p:nvSpPr>
          <p:cNvPr id="210" name="Google Shape;210;p34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4"/>
          <p:cNvSpPr txBox="1"/>
          <p:nvPr/>
        </p:nvSpPr>
        <p:spPr>
          <a:xfrm>
            <a:off x="457200" y="754375"/>
            <a:ext cx="8229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375" y="907200"/>
            <a:ext cx="6320950" cy="405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/>
        </p:nvSpPr>
        <p:spPr>
          <a:xfrm>
            <a:off x="457200" y="940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8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5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5"/>
          <p:cNvSpPr txBox="1"/>
          <p:nvPr/>
        </p:nvSpPr>
        <p:spPr>
          <a:xfrm>
            <a:off x="389300" y="414875"/>
            <a:ext cx="8593800" cy="56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5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Theory-Informed Prompting: 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Integrating AHJ (2024) principles into LLM prompts enables economically principled decisions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Dynamic Adaptation: 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Per-period agent invocation allows real-time reallocation to highest-funding assets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Calibration Matters: 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Realistic parameters (0.02% funding rate) crucial for meaningful results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/>
        </p:nvSpPr>
        <p:spPr>
          <a:xfrm>
            <a:off x="457200" y="940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28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6"/>
          <p:cNvSpPr txBox="1"/>
          <p:nvPr/>
        </p:nvSpPr>
        <p:spPr>
          <a:xfrm>
            <a:off x="312925" y="-68925"/>
            <a:ext cx="8229600" cy="57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5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Simulated data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May miss fat tails, volatility clustering, and cross-asset correlations present in real markets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Perfect execution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Assumes instant fills at quoted prices without slippage or liquidity constraints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LLM consistency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Agent behavior may vary across market regimes not represented in training data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5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F4E79"/>
                </a:solidFill>
              </a:rPr>
              <a:t>Navigating Crypto Finance </a:t>
            </a:r>
            <a:endParaRPr b="1">
              <a:solidFill>
                <a:srgbClr val="1F4E79"/>
              </a:solidFill>
            </a:endParaRPr>
          </a:p>
        </p:txBody>
      </p:sp>
      <p:sp>
        <p:nvSpPr>
          <p:cNvPr id="232" name="Google Shape;232;p37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4400">
                <a:solidFill>
                  <a:srgbClr val="1F4E79"/>
                </a:solidFill>
              </a:rPr>
              <a:t>Roles, Skills, and Preparation through the Coinbase Lens</a:t>
            </a:r>
            <a:endParaRPr sz="4400">
              <a:solidFill>
                <a:srgbClr val="1F4E79"/>
              </a:solidFill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/>
        </p:nvSpPr>
        <p:spPr>
          <a:xfrm>
            <a:off x="457200" y="940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Coinbase Structure</a:t>
            </a:r>
            <a:endParaRPr sz="28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8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8"/>
          <p:cNvSpPr txBox="1"/>
          <p:nvPr/>
        </p:nvSpPr>
        <p:spPr>
          <a:xfrm>
            <a:off x="457200" y="754375"/>
            <a:ext cx="8229600" cy="26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Vertically integrated exchange: broker, exchange, and custodian combined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Continuous, atomic settlement instead of delayed clearing cycles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Three pillars: Coinbase Prime, Coinbase International Exchange, Base (Layer-2 network)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/>
        </p:nvSpPr>
        <p:spPr>
          <a:xfrm>
            <a:off x="457200" y="940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Roles Analyzed</a:t>
            </a:r>
            <a:endParaRPr sz="28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9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9"/>
          <p:cNvSpPr txBox="1"/>
          <p:nvPr/>
        </p:nvSpPr>
        <p:spPr>
          <a:xfrm>
            <a:off x="457200" y="754375"/>
            <a:ext cx="8229600" cy="39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Quant Trader:</a:t>
            </a: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manages execution quality and liquidity routing, not directional speculation</a:t>
            </a: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Exchange Product Manager:</a:t>
            </a: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owns platform mechanics and trade infrastructure</a:t>
            </a: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Risk-Focused ML Engineer:</a:t>
            </a: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builds fraud detection and compliance intelligence</a:t>
            </a: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Risk Manager:</a:t>
            </a: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protects solvency through modeling, stress testing, and liquidation logic</a:t>
            </a: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/>
        </p:nvSpPr>
        <p:spPr>
          <a:xfrm>
            <a:off x="457200" y="940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Skills in Common</a:t>
            </a:r>
            <a:endParaRPr sz="28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0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0"/>
          <p:cNvSpPr txBox="1"/>
          <p:nvPr/>
        </p:nvSpPr>
        <p:spPr>
          <a:xfrm>
            <a:off x="457200" y="754375"/>
            <a:ext cx="8229600" cy="31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High data literacy: SQL, Python, statistics, inference from noisy signals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Comfort with market microstructure concepts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Strong cross-functional communication with legal, engineering, and product teams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Continuous learning due to evolving ecosystems and threats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/>
        </p:nvSpPr>
        <p:spPr>
          <a:xfrm>
            <a:off x="457200" y="940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Unique Skill Needs</a:t>
            </a:r>
            <a:endParaRPr sz="28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1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1"/>
          <p:cNvSpPr txBox="1"/>
          <p:nvPr/>
        </p:nvSpPr>
        <p:spPr>
          <a:xfrm>
            <a:off x="457200" y="754375"/>
            <a:ext cx="8229600" cy="4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Quant Trader: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Design execution and hedging logic for fragmented, 24/7 markets without a guaranteed best price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Exchange Product Manager: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Protocol literacy to translate blockchain mechanics and upgrade risks into product decisions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Machine Learning Engineer (Risk):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On-chain forensics skills to model adversarial behavior and trace activity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Risk Manager:</a:t>
            </a:r>
            <a:r>
              <a:rPr lang="en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Model fat-tail events and smart contract failure as core solvency risks</a:t>
            </a:r>
            <a:endParaRPr sz="2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/>
        </p:nvSpPr>
        <p:spPr>
          <a:xfrm>
            <a:off x="457200" y="940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Duke-Drive Preparation</a:t>
            </a:r>
            <a:endParaRPr sz="28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2"/>
          <p:cNvSpPr/>
          <p:nvPr/>
        </p:nvSpPr>
        <p:spPr>
          <a:xfrm>
            <a:off x="457200" y="617220"/>
            <a:ext cx="8229600" cy="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38" scaled="0"/>
          </a:gra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2"/>
          <p:cNvSpPr txBox="1"/>
          <p:nvPr/>
        </p:nvSpPr>
        <p:spPr>
          <a:xfrm>
            <a:off x="457200" y="754375"/>
            <a:ext cx="8229600" cy="3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Coursework alignment: </a:t>
            </a: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Algorithmic Trading, FinTech Product Development, AI in Finance, Risk &amp; Derivatives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Gaps to close independently: </a:t>
            </a: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Blockchain architecture, DeFi mechanics, smart contract risk, on-chain forensics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Best preparation is hybrid: </a:t>
            </a:r>
            <a:r>
              <a:rPr lang="en" sz="2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Coding + Finance + Protocol Awareness</a:t>
            </a:r>
            <a:endParaRPr sz="25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500"/>
              <a:buFont typeface="Calibri"/>
              <a:buChar char="●"/>
            </a:pPr>
            <a:r>
              <a:rPr lang="en" sz="25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Competitive edge lies in navigating ambiguity where no historical playbook exists</a:t>
            </a:r>
            <a:endParaRPr sz="25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/>
        </p:nvSpPr>
        <p:spPr>
          <a:xfrm>
            <a:off x="914400" y="1312500"/>
            <a:ext cx="73152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2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/>
        </p:nvSpPr>
        <p:spPr>
          <a:xfrm>
            <a:off x="914400" y="1312500"/>
            <a:ext cx="73152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5300" b="1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</Words>
  <Application>Microsoft Macintosh PowerPoint</Application>
  <PresentationFormat>On-screen Show (16:9)</PresentationFormat>
  <Paragraphs>84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Navigating Crypto Finance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Vishesh Gupta</cp:lastModifiedBy>
  <cp:revision>1</cp:revision>
  <dcterms:modified xsi:type="dcterms:W3CDTF">2025-12-10T02:52:42Z</dcterms:modified>
</cp:coreProperties>
</file>