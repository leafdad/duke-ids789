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2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jvjBXwI1JnXoRku0ALR8bzMKTk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5ECB9D5-53B7-44BB-922D-8CF0724B0E8A}">
  <a:tblStyle styleId="{15ECB9D5-53B7-44BB-922D-8CF0724B0E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4F3A777-269D-4090-90E1-D5295F3F190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5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5486075e2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3a5486075e2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" name="Google Shape;170;g3a5486075e2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553daec38_1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3a553daec38_1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g3a553daec38_1_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e8648bd40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e8648bd40_0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Market landscape - touch on state of the market, why people are turning to BNPL, the numbers they’re doing, and their use cases.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latin typeface="Arial"/>
                <a:ea typeface="Arial"/>
                <a:cs typeface="Arial"/>
                <a:sym typeface="Arial"/>
              </a:rPr>
              <a:t>Buy now, pay later apps made $12.5 billion revenue in 2024, a 10.6% increase on the previous year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latin typeface="Arial"/>
                <a:ea typeface="Arial"/>
                <a:cs typeface="Arial"/>
                <a:sym typeface="Arial"/>
              </a:rPr>
              <a:t>Klarna made $2.8 billion in 2024, the most of any BNPL app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latin typeface="Arial"/>
                <a:ea typeface="Arial"/>
                <a:cs typeface="Arial"/>
                <a:sym typeface="Arial"/>
              </a:rPr>
              <a:t>Klarna has about 35% global market share in the BNPL market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latin typeface="Arial"/>
                <a:ea typeface="Arial"/>
                <a:cs typeface="Arial"/>
                <a:sym typeface="Arial"/>
              </a:rPr>
              <a:t>BNPL apps had 365 million users in 2024, a 9.2% increase on 2023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latin typeface="Arial"/>
                <a:ea typeface="Arial"/>
                <a:cs typeface="Arial"/>
                <a:sym typeface="Arial"/>
              </a:rPr>
              <a:t>There were 156 million BNPL app downloads in 2024, an improvement of 20 million</a:t>
            </a:r>
            <a:endParaRPr sz="1000"/>
          </a:p>
        </p:txBody>
      </p:sp>
      <p:sp>
        <p:nvSpPr>
          <p:cNvPr id="185" name="Google Shape;185;g3ae8648bd40_0_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e8648bd40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ae8648bd40_0_1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3ae8648bd40_0_18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e8648bd40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e8648bd40_0_1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g3ae8648bd40_0_1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5f0117838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5f0117838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g3a5f0117838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5efc2e8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a5efc2e8b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g3a5efc2e8bb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5f011783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a5f0117838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3a5f0117838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5f0117838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a5f0117838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3a5f0117838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5f0117838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a5f0117838_0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g3a5f0117838_0_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5f011783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a5f0117838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3a5f0117838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ed72390a7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aed72390a7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g3aed72390a7_0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ed72390a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aed72390a7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*FULL PARAMETERS IN APPENDIX - TOO COMPREHENSIVE TO INCLUDE IN PRESENTATION</a:t>
            </a:r>
            <a:endParaRPr/>
          </a:p>
        </p:txBody>
      </p:sp>
      <p:sp>
        <p:nvSpPr>
          <p:cNvPr id="268" name="Google Shape;268;g3aed72390a7_0_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ed72390a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aed72390a7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3aed72390a7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ed72390a7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ed72390a7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g3aed72390a7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e62b3ccf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ae62b3ccf9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3ae62b3ccf9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ae62b3ccf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ae62b3ccf9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3ae62b3ccf9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ae62b3ccf9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ae62b3ccf9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g3ae62b3ccf9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553daec38_1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0" name="Google Shape;310;g3a553daec38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6566c68e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a6566c68e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g3a6566c68ef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ec52e075a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g3aec52e075a_1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5" name="Google Shape;325;g3aec52e075a_1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ec52e075a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g3aec52e075a_1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2" name="Google Shape;332;g3aec52e075a_1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aec52e075a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3aec52e075a_1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9" name="Google Shape;339;g3aec52e075a_1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a553daec3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g3a553daec38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6" name="Google Shape;346;g3a553daec38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a5ac6c22f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1" name="Google Shape;351;g3a5ac6c22fe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2" name="Google Shape;352;g3a5ac6c22fe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998"/>
              </a:buClr>
              <a:buSzPts val="2400"/>
              <a:buNone/>
              <a:defRPr sz="2400">
                <a:solidFill>
                  <a:srgbClr val="88899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98"/>
              </a:buClr>
              <a:buSzPts val="2000"/>
              <a:buNone/>
              <a:defRPr sz="2000">
                <a:solidFill>
                  <a:srgbClr val="88899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98"/>
              </a:buClr>
              <a:buSzPts val="1800"/>
              <a:buNone/>
              <a:defRPr sz="1800">
                <a:solidFill>
                  <a:srgbClr val="88899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98"/>
              </a:buClr>
              <a:buSzPts val="1600"/>
              <a:buNone/>
              <a:defRPr sz="1600">
                <a:solidFill>
                  <a:srgbClr val="88899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98"/>
              </a:buClr>
              <a:buSzPts val="1600"/>
              <a:buNone/>
              <a:defRPr sz="1600">
                <a:solidFill>
                  <a:srgbClr val="88899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98"/>
              </a:buClr>
              <a:buSzPts val="1600"/>
              <a:buNone/>
              <a:defRPr sz="1600">
                <a:solidFill>
                  <a:srgbClr val="88899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98"/>
              </a:buClr>
              <a:buSzPts val="1600"/>
              <a:buNone/>
              <a:defRPr sz="1600">
                <a:solidFill>
                  <a:srgbClr val="88899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98"/>
              </a:buClr>
              <a:buSzPts val="1600"/>
              <a:buNone/>
              <a:defRPr sz="1600">
                <a:solidFill>
                  <a:srgbClr val="88899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98"/>
              </a:buClr>
              <a:buSzPts val="1600"/>
              <a:buNone/>
              <a:defRPr sz="1600">
                <a:solidFill>
                  <a:srgbClr val="88899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4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4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4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4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e8648bd40_0_9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g3ae8648bd40_0_9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3" name="Google Shape;93;g3ae8648bd40_0_9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g3ae8648bd40_0_9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g3ae8648bd40_0_9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e8648bd40_0_10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g3ae8648bd40_0_10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g3ae8648bd40_0_10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g3ae8648bd40_0_10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ae8648bd40_0_10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e8648bd40_0_1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g3ae8648bd40_0_1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998"/>
              </a:buClr>
              <a:buSzPts val="2400"/>
              <a:buNone/>
              <a:defRPr sz="2400">
                <a:solidFill>
                  <a:srgbClr val="88899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98"/>
              </a:buClr>
              <a:buSzPts val="2000"/>
              <a:buNone/>
              <a:defRPr sz="2000">
                <a:solidFill>
                  <a:srgbClr val="88899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98"/>
              </a:buClr>
              <a:buSzPts val="1800"/>
              <a:buNone/>
              <a:defRPr sz="1800">
                <a:solidFill>
                  <a:srgbClr val="88899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98"/>
              </a:buClr>
              <a:buSzPts val="1600"/>
              <a:buNone/>
              <a:defRPr sz="1600">
                <a:solidFill>
                  <a:srgbClr val="88899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98"/>
              </a:buClr>
              <a:buSzPts val="1600"/>
              <a:buNone/>
              <a:defRPr sz="1600">
                <a:solidFill>
                  <a:srgbClr val="88899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98"/>
              </a:buClr>
              <a:buSzPts val="1600"/>
              <a:buNone/>
              <a:defRPr sz="1600">
                <a:solidFill>
                  <a:srgbClr val="88899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98"/>
              </a:buClr>
              <a:buSzPts val="1600"/>
              <a:buNone/>
              <a:defRPr sz="1600">
                <a:solidFill>
                  <a:srgbClr val="88899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98"/>
              </a:buClr>
              <a:buSzPts val="1600"/>
              <a:buNone/>
              <a:defRPr sz="1600">
                <a:solidFill>
                  <a:srgbClr val="88899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998"/>
              </a:buClr>
              <a:buSzPts val="1600"/>
              <a:buNone/>
              <a:defRPr sz="1600">
                <a:solidFill>
                  <a:srgbClr val="88899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g3ae8648bd40_0_1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g3ae8648bd40_0_1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g3ae8648bd40_0_1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e8648bd40_0_1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3ae8648bd40_0_1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g3ae8648bd40_0_1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g3ae8648bd40_0_1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g3ae8648bd40_0_1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g3ae8648bd40_0_1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e8648bd40_0_1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g3ae8648bd40_0_1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g3ae8648bd40_0_1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g3ae8648bd40_0_1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g3ae8648bd40_0_1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g3ae8648bd40_0_1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g3ae8648bd40_0_1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g3ae8648bd40_0_1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e8648bd40_0_1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g3ae8648bd40_0_1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g3ae8648bd40_0_1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g3ae8648bd40_0_1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e8648bd40_0_1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g3ae8648bd40_0_1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g3ae8648bd40_0_1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e8648bd40_0_14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g3ae8648bd40_0_14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g3ae8648bd40_0_14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7" name="Google Shape;137;g3ae8648bd40_0_1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g3ae8648bd40_0_1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g3ae8648bd40_0_1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e8648bd40_0_14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g3ae8648bd40_0_14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g3ae8648bd40_0_14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4" name="Google Shape;144;g3ae8648bd40_0_1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g3ae8648bd40_0_1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g3ae8648bd40_0_1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e8648bd40_0_1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g3ae8648bd40_0_15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g3ae8648bd40_0_1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g3ae8648bd40_0_1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g3ae8648bd40_0_1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e8648bd40_0_162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g3ae8648bd40_0_162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g3ae8648bd40_0_1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g3ae8648bd40_0_1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g3ae8648bd40_0_1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e8648bd40_0_9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g3ae8648bd40_0_9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g3ae8648bd40_0_9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g3ae8648bd40_0_9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g3ae8648bd40_0_9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"/>
          <p:cNvSpPr txBox="1"/>
          <p:nvPr/>
        </p:nvSpPr>
        <p:spPr>
          <a:xfrm>
            <a:off x="4187549" y="4173104"/>
            <a:ext cx="3816900" cy="12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12169"/>
                </a:solidFill>
                <a:latin typeface="Calibri"/>
                <a:ea typeface="Calibri"/>
                <a:cs typeface="Calibri"/>
                <a:sym typeface="Calibri"/>
              </a:rPr>
              <a:t>Haiwei Du</a:t>
            </a:r>
            <a:endParaRPr sz="1600" b="1" i="0" u="none" strike="noStrike" cap="none">
              <a:solidFill>
                <a:srgbClr val="0121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12169"/>
                </a:solidFill>
                <a:latin typeface="Calibri"/>
                <a:ea typeface="Calibri"/>
                <a:cs typeface="Calibri"/>
                <a:sym typeface="Calibri"/>
              </a:rPr>
              <a:t>Tony Ngari</a:t>
            </a:r>
            <a:endParaRPr sz="1600" b="1" i="0" u="none" strike="noStrike" cap="none">
              <a:solidFill>
                <a:srgbClr val="0121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12169"/>
                </a:solidFill>
                <a:latin typeface="Calibri"/>
                <a:ea typeface="Calibri"/>
                <a:cs typeface="Calibri"/>
                <a:sym typeface="Calibri"/>
              </a:rPr>
              <a:t>Aaron Jiang</a:t>
            </a:r>
            <a:endParaRPr sz="1600" b="1" i="0" u="none" strike="noStrike" cap="none">
              <a:solidFill>
                <a:srgbClr val="0121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12169"/>
                </a:solidFill>
                <a:latin typeface="Calibri"/>
                <a:ea typeface="Calibri"/>
                <a:cs typeface="Calibri"/>
                <a:sym typeface="Calibri"/>
              </a:rPr>
              <a:t>Turner McLaurin</a:t>
            </a:r>
            <a:endParaRPr sz="1600" b="1" i="0" u="none" strike="noStrike" cap="none">
              <a:solidFill>
                <a:srgbClr val="0121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"/>
          <p:cNvSpPr txBox="1">
            <a:spLocks noGrp="1"/>
          </p:cNvSpPr>
          <p:nvPr>
            <p:ph type="ctrTitle"/>
          </p:nvPr>
        </p:nvSpPr>
        <p:spPr>
          <a:xfrm>
            <a:off x="1493950" y="2666100"/>
            <a:ext cx="9869400" cy="1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20"/>
              <a:buFont typeface="Calibri"/>
              <a:buNone/>
            </a:pPr>
            <a:r>
              <a:rPr lang="en-US" sz="3320" b="1"/>
              <a:t>Buy-Now-Pay-Later: A Risk Management Perspective</a:t>
            </a:r>
            <a:endParaRPr sz="3320" b="1"/>
          </a:p>
        </p:txBody>
      </p:sp>
      <p:sp>
        <p:nvSpPr>
          <p:cNvPr id="165" name="Google Shape;165;p1"/>
          <p:cNvSpPr txBox="1">
            <a:spLocks noGrp="1"/>
          </p:cNvSpPr>
          <p:nvPr>
            <p:ph type="ctrTitle"/>
          </p:nvPr>
        </p:nvSpPr>
        <p:spPr>
          <a:xfrm>
            <a:off x="3063900" y="575675"/>
            <a:ext cx="6064200" cy="1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20"/>
              <a:buFont typeface="Calibri"/>
              <a:buNone/>
            </a:pPr>
            <a:r>
              <a:rPr lang="en-US" sz="2320" b="1"/>
              <a:t>IDS 789: Finance Business Models</a:t>
            </a:r>
            <a:endParaRPr sz="2320" b="1"/>
          </a:p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20"/>
              <a:buFont typeface="Calibri"/>
              <a:buNone/>
            </a:pPr>
            <a:r>
              <a:rPr lang="en-US" sz="2320" b="1"/>
              <a:t>FALL 2025</a:t>
            </a:r>
            <a:endParaRPr sz="2320" b="1"/>
          </a:p>
        </p:txBody>
      </p:sp>
      <p:sp>
        <p:nvSpPr>
          <p:cNvPr id="166" name="Google Shape;166;p1"/>
          <p:cNvSpPr txBox="1">
            <a:spLocks noGrp="1"/>
          </p:cNvSpPr>
          <p:nvPr>
            <p:ph type="ctrTitle"/>
          </p:nvPr>
        </p:nvSpPr>
        <p:spPr>
          <a:xfrm>
            <a:off x="3181025" y="1563275"/>
            <a:ext cx="6064200" cy="1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20"/>
              <a:buFont typeface="Calibri"/>
              <a:buNone/>
            </a:pPr>
            <a:r>
              <a:rPr lang="en-US" sz="2320" b="1"/>
              <a:t>TECHNICAL PROJECT</a:t>
            </a:r>
            <a:endParaRPr sz="232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5486075e2_0_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Content</a:t>
            </a:r>
            <a:endParaRPr/>
          </a:p>
        </p:txBody>
      </p:sp>
      <p:sp>
        <p:nvSpPr>
          <p:cNvPr id="173" name="Google Shape;173;g3a5486075e2_0_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Introduction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Methodology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Risk Analysis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Simulation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Insights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Conclusion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553daec38_1_55"/>
          <p:cNvSpPr txBox="1">
            <a:spLocks noGrp="1"/>
          </p:cNvSpPr>
          <p:nvPr>
            <p:ph type="body" idx="1"/>
          </p:nvPr>
        </p:nvSpPr>
        <p:spPr>
          <a:xfrm>
            <a:off x="838196" y="2222213"/>
            <a:ext cx="5932200" cy="35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b="1"/>
              <a:t>What is Buy-Now-Pay-Later (BNPL)?</a:t>
            </a:r>
            <a:endParaRPr b="1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 short-term installment credit product.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Consumers split payments into multiple interest-free installments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Requires minimal onboarding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Positioned as a frictionless alternative to traditional credit</a:t>
            </a:r>
            <a:endParaRPr/>
          </a:p>
        </p:txBody>
      </p:sp>
      <p:sp>
        <p:nvSpPr>
          <p:cNvPr id="180" name="Google Shape;180;g3a553daec38_1_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Introduction</a:t>
            </a:r>
            <a:endParaRPr/>
          </a:p>
        </p:txBody>
      </p:sp>
      <p:pic>
        <p:nvPicPr>
          <p:cNvPr id="181" name="Google Shape;181;g3a553daec38_1_55"/>
          <p:cNvPicPr preferRelativeResize="0"/>
          <p:nvPr/>
        </p:nvPicPr>
        <p:blipFill rotWithShape="1">
          <a:blip r:embed="rId3">
            <a:alphaModFix/>
          </a:blip>
          <a:srcRect l="12107" r="13013"/>
          <a:stretch/>
        </p:blipFill>
        <p:spPr>
          <a:xfrm>
            <a:off x="6441325" y="1690837"/>
            <a:ext cx="5021701" cy="426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e8648bd40_0_8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Market Landscape</a:t>
            </a:r>
            <a:endParaRPr/>
          </a:p>
        </p:txBody>
      </p:sp>
      <p:sp>
        <p:nvSpPr>
          <p:cNvPr id="188" name="Google Shape;188;g3ae8648bd40_0_8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BNPL sector grew rapidly during covid, especially among young people and consumers with poor credit scores prohibited them from buying on credit.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91.5 million users in the United States (Loizos, 2025)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Major players: Affirm, Klarna, Afterpay, and recently PayPal.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Klarna - $2.8 Billion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Affirm - $2.3 Billion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Afterpay - $1.3 Billion (FY 2024) </a:t>
            </a:r>
            <a:endParaRPr/>
          </a:p>
        </p:txBody>
      </p:sp>
      <p:pic>
        <p:nvPicPr>
          <p:cNvPr id="189" name="Google Shape;189;g3ae8648bd40_0_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596" y="5070480"/>
            <a:ext cx="2356797" cy="1325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ae8648bd40_0_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2787" y="4950878"/>
            <a:ext cx="2673101" cy="1062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3ae8648bd40_0_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85700" y="4950878"/>
            <a:ext cx="3161723" cy="177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e8648bd40_0_1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BNPL lenders operate with limited visibility, while pushing through instant, frictionless loan approvals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63% of users have taken out multiple loans at once, oftentimes across several BNPL lenders.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 industry is very susceptible to macroeconomic shocks.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25% of users have used BNPL services to buy groceries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20% of holiday shoppers this year plan to use BNPL to finance their purchases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Objective: Determine if there is a bubble.</a:t>
            </a:r>
            <a:endParaRPr/>
          </a:p>
        </p:txBody>
      </p:sp>
      <p:sp>
        <p:nvSpPr>
          <p:cNvPr id="198" name="Google Shape;198;g3ae8648bd40_0_18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&amp; Objective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e8648bd40_0_17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Methodology</a:t>
            </a:r>
            <a:endParaRPr/>
          </a:p>
        </p:txBody>
      </p:sp>
      <p:sp>
        <p:nvSpPr>
          <p:cNvPr id="205" name="Google Shape;205;g3ae8648bd40_0_17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To understand how exposed BNPL companies are to risk, we do the following: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Build a credit-risk modeling pipeline, where we use a large anonymized BNPL-style loan dataset to estimate probability of default (PD).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Simulate BNPL company financial performance to test the resilience of the business model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5f0117838_0_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b="1"/>
              <a:t>Risk Modeling Pipeline</a:t>
            </a:r>
            <a:endParaRPr/>
          </a:p>
        </p:txBody>
      </p:sp>
      <p:sp>
        <p:nvSpPr>
          <p:cNvPr id="212" name="Google Shape;212;g3a5f0117838_0_30"/>
          <p:cNvSpPr txBox="1">
            <a:spLocks noGrp="1"/>
          </p:cNvSpPr>
          <p:nvPr>
            <p:ph type="body" idx="1"/>
          </p:nvPr>
        </p:nvSpPr>
        <p:spPr>
          <a:xfrm>
            <a:off x="761425" y="2291850"/>
            <a:ext cx="6458700" cy="3761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/>
              <a:t>Data</a:t>
            </a:r>
            <a:r>
              <a:rPr lang="en-US" sz="1800"/>
              <a:t> – Data Source, Data Set, Target Variable, Dependent Variable, Data Cleaning.</a:t>
            </a:r>
            <a:br>
              <a:rPr lang="en-US" sz="1800"/>
            </a:br>
            <a:r>
              <a:rPr lang="en-US" sz="1800" b="1"/>
              <a:t>Preprocessing</a:t>
            </a:r>
            <a:r>
              <a:rPr lang="en-US" sz="1800"/>
              <a:t> – Cleaned and renamed fields, check variable types, handled missing values, Feature Selection.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/>
              <a:t>EDA</a:t>
            </a:r>
            <a:r>
              <a:rPr lang="en-US" sz="1800"/>
              <a:t> – Plots and basic information to find the outline of the data set and default drivers in affordability, timing, and size.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/>
              <a:t>Modeling</a:t>
            </a:r>
            <a:r>
              <a:rPr lang="en-US" sz="1800"/>
              <a:t> – Standardize, Train Test Split, with all different models.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/>
              <a:t>Results</a:t>
            </a:r>
            <a:r>
              <a:rPr lang="en-US" sz="1800"/>
              <a:t> – Model performance with plots that shows the .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213" name="Google Shape;213;g3a5f0117838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7175" y="1456350"/>
            <a:ext cx="3076625" cy="394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3a5f0117838_0_30"/>
          <p:cNvSpPr txBox="1"/>
          <p:nvPr/>
        </p:nvSpPr>
        <p:spPr>
          <a:xfrm>
            <a:off x="761425" y="1690825"/>
            <a:ext cx="7143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</a:rPr>
              <a:t>Data</a:t>
            </a:r>
            <a:r>
              <a:rPr lang="en-US" sz="1900">
                <a:solidFill>
                  <a:schemeClr val="dk1"/>
                </a:solidFill>
              </a:rPr>
              <a:t> → </a:t>
            </a:r>
            <a:r>
              <a:rPr lang="en-US" sz="1900" b="1">
                <a:solidFill>
                  <a:schemeClr val="dk1"/>
                </a:solidFill>
              </a:rPr>
              <a:t>Preprocessing</a:t>
            </a:r>
            <a:r>
              <a:rPr lang="en-US" sz="1900">
                <a:solidFill>
                  <a:schemeClr val="dk1"/>
                </a:solidFill>
              </a:rPr>
              <a:t> → </a:t>
            </a:r>
            <a:r>
              <a:rPr lang="en-US" sz="1900" b="1">
                <a:solidFill>
                  <a:schemeClr val="dk1"/>
                </a:solidFill>
              </a:rPr>
              <a:t>EDA</a:t>
            </a:r>
            <a:r>
              <a:rPr lang="en-US" sz="1900">
                <a:solidFill>
                  <a:schemeClr val="dk1"/>
                </a:solidFill>
              </a:rPr>
              <a:t> → </a:t>
            </a:r>
            <a:r>
              <a:rPr lang="en-US" sz="1900" b="1">
                <a:solidFill>
                  <a:schemeClr val="dk1"/>
                </a:solidFill>
              </a:rPr>
              <a:t>Modeling</a:t>
            </a:r>
            <a:r>
              <a:rPr lang="en-US" sz="1900">
                <a:solidFill>
                  <a:schemeClr val="dk1"/>
                </a:solidFill>
              </a:rPr>
              <a:t> → </a:t>
            </a:r>
            <a:r>
              <a:rPr lang="en-US" sz="1900" b="1">
                <a:solidFill>
                  <a:schemeClr val="dk1"/>
                </a:solidFill>
              </a:rPr>
              <a:t>Results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5efc2e8bb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Data</a:t>
            </a:r>
            <a:endParaRPr b="1"/>
          </a:p>
        </p:txBody>
      </p:sp>
      <p:sp>
        <p:nvSpPr>
          <p:cNvPr id="221" name="Google Shape;221;g3a5efc2e8bb_0_0"/>
          <p:cNvSpPr txBox="1">
            <a:spLocks noGrp="1"/>
          </p:cNvSpPr>
          <p:nvPr>
            <p:ph type="body" idx="1"/>
          </p:nvPr>
        </p:nvSpPr>
        <p:spPr>
          <a:xfrm>
            <a:off x="838200" y="1482925"/>
            <a:ext cx="7561200" cy="496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/>
              <a:t>Dataset:</a:t>
            </a:r>
            <a:r>
              <a:rPr lang="en-US" sz="1800"/>
              <a:t> 160K anonymized “pay later” loans from a digital lender (Kaggle Paylater Loan Data)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/>
              <a:t>Variables:</a:t>
            </a:r>
            <a:r>
              <a:rPr lang="en-US" sz="1800"/>
              <a:t> 28 fields – income, basic borrower info, loan amount, interest rate, term, repayment dates, etc.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/>
              <a:t>Target:</a:t>
            </a:r>
            <a:r>
              <a:rPr lang="en-US" sz="1800"/>
              <a:t> Binary default flag — whether the loan ever entered default (1 = default, 0 = no default)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/>
              <a:t>Cleaning:</a:t>
            </a:r>
            <a:endParaRPr sz="1800" b="1"/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/>
              <a:t>Renamed columns to clear labels (income, amount, interest_rate, term_months, income_verified, settle_days)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/>
              <a:t>Converted core numeric fields (amount, rate, term, income, existing affordability ratio, max prior amount, default, settlement timing) to numeric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/>
              <a:t>Dropped loans missing any of these critical fields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/>
              <a:t>Standardized all binary flags (income_verified, first_payment_default, default_flag) to 0/1</a:t>
            </a:r>
            <a:endParaRPr sz="18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222" name="Google Shape;222;g3a5efc2e8b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0550" y="1879238"/>
            <a:ext cx="2638300" cy="3099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5f0117838_0_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b="1"/>
              <a:t>Risk Model: Feature Selection</a:t>
            </a:r>
            <a:endParaRPr/>
          </a:p>
        </p:txBody>
      </p:sp>
      <p:sp>
        <p:nvSpPr>
          <p:cNvPr id="229" name="Google Shape;229;g3a5f0117838_0_2"/>
          <p:cNvSpPr txBox="1">
            <a:spLocks noGrp="1"/>
          </p:cNvSpPr>
          <p:nvPr>
            <p:ph type="body" idx="1"/>
          </p:nvPr>
        </p:nvSpPr>
        <p:spPr>
          <a:xfrm>
            <a:off x="838200" y="943138"/>
            <a:ext cx="8023500" cy="5307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6257" b="1"/>
          </a:p>
          <a:p>
            <a:pPr marL="457200" lvl="0" indent="-32794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-US" sz="6257" b="1"/>
              <a:t>Step 1 – Focused variable set</a:t>
            </a:r>
            <a:endParaRPr sz="6257" b="1"/>
          </a:p>
          <a:p>
            <a:pPr marL="914400" lvl="1" indent="-3279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○"/>
            </a:pPr>
            <a:r>
              <a:rPr lang="en-US" sz="6257"/>
              <a:t>Kept only variables tied to credit risk and affordability</a:t>
            </a:r>
            <a:br>
              <a:rPr lang="en-US" sz="6257"/>
            </a:br>
            <a:r>
              <a:rPr lang="en-US" sz="6257"/>
              <a:t>Core loan terms: amount, term, interest rate</a:t>
            </a:r>
            <a:endParaRPr sz="6257"/>
          </a:p>
          <a:p>
            <a:pPr marL="914400" lvl="1" indent="-3279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○"/>
            </a:pPr>
            <a:r>
              <a:rPr lang="en-US" sz="6257"/>
              <a:t>Borrower side: income, income_verified, simple demographics, basic borrowing history</a:t>
            </a:r>
            <a:endParaRPr sz="6257"/>
          </a:p>
          <a:p>
            <a:pPr marL="914400" lvl="1" indent="-3279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○"/>
            </a:pPr>
            <a:r>
              <a:rPr lang="en-US" sz="6257"/>
              <a:t>Repayment burden: existing affordability ratio, payment-style measures</a:t>
            </a:r>
            <a:endParaRPr sz="6257"/>
          </a:p>
          <a:p>
            <a:pPr marL="457200" lvl="0" indent="-3279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-US" sz="6257" b="1"/>
              <a:t>Step 2 – “Signal” check for numeric features</a:t>
            </a:r>
            <a:endParaRPr sz="6257" b="1"/>
          </a:p>
          <a:p>
            <a:pPr marL="914400" lvl="1" indent="-3279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○"/>
            </a:pPr>
            <a:r>
              <a:rPr lang="en-US" sz="6257"/>
              <a:t>For each numeric variable, computed a Kolmogorov–Smirnov (KS) statistic</a:t>
            </a:r>
            <a:endParaRPr sz="6257"/>
          </a:p>
          <a:p>
            <a:pPr marL="914400" lvl="1" indent="-3279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○"/>
            </a:pPr>
            <a:r>
              <a:rPr lang="en-US" sz="6257"/>
              <a:t>Dropped variables with weak KS or many missing values</a:t>
            </a:r>
            <a:endParaRPr sz="6257"/>
          </a:p>
          <a:p>
            <a:pPr marL="914400" lvl="1" indent="-3279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6257"/>
              <a:t>Treated high-KS variables as </a:t>
            </a:r>
            <a:r>
              <a:rPr lang="en-US" sz="6257" b="1"/>
              <a:t>strong numeric drivers</a:t>
            </a:r>
            <a:endParaRPr sz="6257" b="1"/>
          </a:p>
          <a:p>
            <a:pPr marL="457200" lvl="0" indent="-3279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-US" sz="6257" b="1"/>
              <a:t>Step 3 – Visual diagnostics</a:t>
            </a:r>
            <a:endParaRPr sz="6257" b="1"/>
          </a:p>
          <a:p>
            <a:pPr marL="914400" lvl="1" indent="-3279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○"/>
            </a:pPr>
            <a:r>
              <a:rPr lang="en-US" sz="6257"/>
              <a:t>Correlation heatmap among strong drivers and default</a:t>
            </a:r>
            <a:endParaRPr sz="6257"/>
          </a:p>
          <a:p>
            <a:pPr marL="914400" lvl="1" indent="-3279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○"/>
            </a:pPr>
            <a:r>
              <a:rPr lang="en-US" sz="6257"/>
              <a:t>Default rate by decile (with confidence bands) for each strong driver</a:t>
            </a:r>
            <a:endParaRPr sz="6257"/>
          </a:p>
          <a:p>
            <a:pPr marL="914400" lvl="1" indent="-3279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○"/>
            </a:pPr>
            <a:r>
              <a:rPr lang="en-US" sz="6257"/>
              <a:t>Found clear, stable relationships for:</a:t>
            </a:r>
            <a:endParaRPr sz="6257"/>
          </a:p>
          <a:p>
            <a:pPr marL="1371600" lvl="2" indent="-3279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-US" sz="6257" i="1"/>
              <a:t>settle_days, payment_ratio, loan_income_ratio</a:t>
            </a:r>
            <a:endParaRPr sz="6257" i="1"/>
          </a:p>
          <a:p>
            <a:pPr marL="1371600" lvl="2" indent="-3279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-US" sz="6257" i="1"/>
              <a:t>amount, term_months, max_amount_taken</a:t>
            </a:r>
            <a:endParaRPr sz="6257" i="1"/>
          </a:p>
          <a:p>
            <a:pPr marL="457200" lvl="0" indent="-3279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-US" sz="6257" b="1"/>
              <a:t>Final feature set</a:t>
            </a:r>
            <a:endParaRPr sz="6257" b="1"/>
          </a:p>
          <a:p>
            <a:pPr marL="914400" lvl="1" indent="-3279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○"/>
            </a:pPr>
            <a:r>
              <a:rPr lang="en-US" sz="6257"/>
              <a:t>Strong numeric drivers + engineered features</a:t>
            </a:r>
            <a:endParaRPr sz="6257"/>
          </a:p>
          <a:p>
            <a:pPr marL="1371600" lvl="2" indent="-3279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■"/>
            </a:pPr>
            <a:r>
              <a:rPr lang="en-US" sz="6257"/>
              <a:t>e.g., payment-to-income, utilization vs. prior max amount, simple rate × term × amount interactions</a:t>
            </a:r>
            <a:endParaRPr sz="6257"/>
          </a:p>
          <a:p>
            <a:pPr marL="914400" lvl="1" indent="-3279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○"/>
            </a:pPr>
            <a:r>
              <a:rPr lang="en-US" sz="6257"/>
              <a:t>Key categorical indicators (loan purpose, basic borrower characteristics)</a:t>
            </a:r>
            <a:endParaRPr sz="6257"/>
          </a:p>
          <a:p>
            <a:pPr marL="914400" lvl="1" indent="-3279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○"/>
            </a:pPr>
            <a:r>
              <a:rPr lang="en-US" sz="6257"/>
              <a:t>Dropped weak, low-variation, or highly redundant variables</a:t>
            </a:r>
            <a:endParaRPr sz="6257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0" name="Google Shape;230;g3a5f0117838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1775" y="1690825"/>
            <a:ext cx="2756350" cy="398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5f0117838_0_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b="1"/>
              <a:t>Risk Model: Training </a:t>
            </a:r>
            <a:endParaRPr/>
          </a:p>
        </p:txBody>
      </p:sp>
      <p:sp>
        <p:nvSpPr>
          <p:cNvPr id="237" name="Google Shape;237;g3a5f0117838_0_9"/>
          <p:cNvSpPr txBox="1">
            <a:spLocks noGrp="1"/>
          </p:cNvSpPr>
          <p:nvPr>
            <p:ph type="body" idx="1"/>
          </p:nvPr>
        </p:nvSpPr>
        <p:spPr>
          <a:xfrm>
            <a:off x="740350" y="1265375"/>
            <a:ext cx="7396800" cy="447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6000" b="1"/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-US" sz="6000" b="1"/>
              <a:t>Preprocessing</a:t>
            </a:r>
            <a:endParaRPr sz="6000" b="1"/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○"/>
            </a:pPr>
            <a:r>
              <a:rPr lang="en-US" sz="6000"/>
              <a:t>Numeric features standardized with z-scores (mean 0, variance 1)</a:t>
            </a:r>
            <a:endParaRPr sz="6000"/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○"/>
            </a:pPr>
            <a:r>
              <a:rPr lang="en-US" sz="6000"/>
              <a:t>Categorical features (gender, loan_purpose, residence_status) one-hot encoded</a:t>
            </a:r>
            <a:endParaRPr sz="6000"/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○"/>
            </a:pPr>
            <a:r>
              <a:rPr lang="en-US" sz="6000"/>
              <a:t>Built a single ColumnTransformer + Pipeline so the same steps apply in training and testing</a:t>
            </a:r>
            <a:endParaRPr sz="60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-US" sz="6000" b="1"/>
              <a:t>Train–test split</a:t>
            </a:r>
            <a:endParaRPr sz="6000" b="1"/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○"/>
            </a:pPr>
            <a:r>
              <a:rPr lang="en-US" sz="6000"/>
              <a:t>80% training, 20% test</a:t>
            </a:r>
            <a:endParaRPr sz="6000"/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○"/>
            </a:pPr>
            <a:r>
              <a:rPr lang="en-US" sz="6000"/>
              <a:t>Stratified by default status to preserve the overall default rate</a:t>
            </a:r>
            <a:endParaRPr sz="60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-US" sz="6000" b="1"/>
              <a:t>Models trained</a:t>
            </a:r>
            <a:endParaRPr sz="6000" b="1"/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○"/>
            </a:pPr>
            <a:r>
              <a:rPr lang="en-US" sz="6000" b="1"/>
              <a:t>Logistic Regression</a:t>
            </a:r>
            <a:endParaRPr sz="6000" b="1"/>
          </a:p>
          <a:p>
            <a:pPr marL="1371600" lvl="2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■"/>
            </a:pPr>
            <a:r>
              <a:rPr lang="en-US" sz="6000"/>
              <a:t>L2 regularization, class_weight="balanced" to up-weight defaults</a:t>
            </a:r>
            <a:endParaRPr sz="6000"/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○"/>
            </a:pPr>
            <a:r>
              <a:rPr lang="en-US" sz="6000" b="1"/>
              <a:t>Random Forest</a:t>
            </a:r>
            <a:endParaRPr sz="6000" b="1"/>
          </a:p>
          <a:p>
            <a:pPr marL="1371600" lvl="2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■"/>
            </a:pPr>
            <a:r>
              <a:rPr lang="en-US" sz="6000"/>
              <a:t>500 trees, min leaf size = 2, class_weight="balanced_subsample"</a:t>
            </a:r>
            <a:endParaRPr sz="6000"/>
          </a:p>
          <a:p>
            <a:pPr marL="1371600" lvl="2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■"/>
            </a:pPr>
            <a:r>
              <a:rPr lang="en-US" sz="6000"/>
              <a:t>Captures non-linear effects and interactions automatically</a:t>
            </a:r>
            <a:endParaRPr sz="6000"/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○"/>
            </a:pPr>
            <a:r>
              <a:rPr lang="en-US" sz="6000" b="1"/>
              <a:t>Histogram Gradient Boosting</a:t>
            </a:r>
            <a:endParaRPr sz="6000" b="1"/>
          </a:p>
          <a:p>
            <a:pPr marL="1371600" lvl="2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■"/>
            </a:pPr>
            <a:r>
              <a:rPr lang="en-US" sz="6000"/>
              <a:t>Tree-based boosting on binned features</a:t>
            </a:r>
            <a:endParaRPr sz="6000"/>
          </a:p>
          <a:p>
            <a:pPr marL="1371600" lvl="2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■"/>
            </a:pPr>
            <a:r>
              <a:rPr lang="en-US" sz="6000"/>
              <a:t>Designed for high performance on tabular data</a:t>
            </a:r>
            <a:endParaRPr sz="60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-US" sz="6000" b="1"/>
              <a:t>Evaluation metrics</a:t>
            </a:r>
            <a:endParaRPr sz="6000" b="1"/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○"/>
            </a:pPr>
            <a:r>
              <a:rPr lang="en-US" sz="6000"/>
              <a:t>ROC-AUC, Precision–Recall AUC, Brier score</a:t>
            </a:r>
            <a:endParaRPr sz="6000"/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○"/>
            </a:pPr>
            <a:r>
              <a:rPr lang="en-US" sz="6000"/>
              <a:t>Calibration curves and lift charts to check probability quality and rank ordering</a:t>
            </a:r>
            <a:endParaRPr sz="6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8" name="Google Shape;238;g3a5f0117838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1125" y="1641138"/>
            <a:ext cx="3206175" cy="371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5f0117838_0_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Risk Model: Performance</a:t>
            </a:r>
            <a:endParaRPr/>
          </a:p>
        </p:txBody>
      </p:sp>
      <p:sp>
        <p:nvSpPr>
          <p:cNvPr id="245" name="Google Shape;245;g3a5f0117838_0_4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6" name="Google Shape;246;g3a5f0117838_0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975" y="1453450"/>
            <a:ext cx="10328051" cy="339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3a5f0117838_0_44" title="Screenshot 2025-11-18 at 7.52.0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2100" y="4966075"/>
            <a:ext cx="9067800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5f0117838_0_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Risk Model: Performance (2)</a:t>
            </a:r>
            <a:endParaRPr b="1"/>
          </a:p>
        </p:txBody>
      </p:sp>
      <p:sp>
        <p:nvSpPr>
          <p:cNvPr id="254" name="Google Shape;254;g3a5f0117838_0_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/>
              <a:t>All three models clearly beat the simple baseline logistic regression</a:t>
            </a:r>
            <a:endParaRPr sz="1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 b="1"/>
              <a:t>Histogram Gradient Boosting performs best overall:</a:t>
            </a:r>
            <a:endParaRPr sz="1400" b="1"/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sz="1400"/>
              <a:t>ROC-AUC above 0.90 (very strong rank ordering of risk)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sz="1400"/>
              <a:t>Highest Precision–Recall AUC (good at finding defaults in an imbalanced dataset)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sz="1400"/>
              <a:t>Lowest Brier score (most accurate probability estimates)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Calibration plots show predicted PDs line up well with observed default rates, especially in the mid-range</a:t>
            </a:r>
            <a:endParaRPr sz="1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/>
              <a:t>Lift charts: high-score buckets capture a large share of all defaults, confirming strong separation</a:t>
            </a:r>
            <a:endParaRPr sz="1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/>
              <a:t>Takeaway for the story: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sz="1400" b="1"/>
              <a:t>Default risk is highly predictable with rich features</a:t>
            </a:r>
            <a:endParaRPr sz="1400"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sz="1400"/>
              <a:t>The main fragility of BNPL is not weak risk models, but the underlying business economics</a:t>
            </a:r>
            <a:endParaRPr/>
          </a:p>
        </p:txBody>
      </p:sp>
      <p:pic>
        <p:nvPicPr>
          <p:cNvPr id="255" name="Google Shape;255;g3a5f0117838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91400" y="1579424"/>
            <a:ext cx="3145076" cy="381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ed72390a7_0_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Simulation</a:t>
            </a:r>
            <a:endParaRPr/>
          </a:p>
        </p:txBody>
      </p:sp>
      <p:sp>
        <p:nvSpPr>
          <p:cNvPr id="262" name="Google Shape;262;g3aed72390a7_0_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Char char="•"/>
            </a:pPr>
            <a:r>
              <a:rPr lang="en-US" sz="2200">
                <a:solidFill>
                  <a:srgbClr val="000000"/>
                </a:solidFill>
              </a:rPr>
              <a:t>Simulated BNPL company financial performance month-by-month over 24 months</a:t>
            </a:r>
            <a:endParaRPr sz="2200">
              <a:solidFill>
                <a:srgbClr val="000000"/>
              </a:solidFill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Char char="•"/>
            </a:pPr>
            <a:r>
              <a:rPr lang="en-US" sz="2200">
                <a:solidFill>
                  <a:srgbClr val="000000"/>
                </a:solidFill>
              </a:rPr>
              <a:t>Directly modeling all revenue and cost components calibrated to real-world BNPL metrics</a:t>
            </a:r>
            <a:endParaRPr sz="2200">
              <a:solidFill>
                <a:srgbClr val="000000"/>
              </a:solidFill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-US" sz="2200">
                <a:solidFill>
                  <a:srgbClr val="000000"/>
                </a:solidFill>
              </a:rPr>
              <a:t>Accounted for economic conditions and company scale</a:t>
            </a:r>
            <a:endParaRPr sz="22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3300"/>
          </a:p>
        </p:txBody>
      </p:sp>
      <p:pic>
        <p:nvPicPr>
          <p:cNvPr id="263" name="Google Shape;263;g3aed72390a7_0_20"/>
          <p:cNvPicPr preferRelativeResize="0"/>
          <p:nvPr/>
        </p:nvPicPr>
        <p:blipFill rotWithShape="1">
          <a:blip r:embed="rId3">
            <a:alphaModFix/>
          </a:blip>
          <a:srcRect r="16673"/>
          <a:stretch/>
        </p:blipFill>
        <p:spPr>
          <a:xfrm>
            <a:off x="425600" y="3623550"/>
            <a:ext cx="5751474" cy="239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g3aed72390a7_0_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1120" y="3623543"/>
            <a:ext cx="4440281" cy="239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ed72390a7_0_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Simulation (2)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g3aed72390a7_0_32"/>
          <p:cNvSpPr txBox="1">
            <a:spLocks noGrp="1"/>
          </p:cNvSpPr>
          <p:nvPr>
            <p:ph type="body" idx="1"/>
          </p:nvPr>
        </p:nvSpPr>
        <p:spPr>
          <a:xfrm>
            <a:off x="838200" y="1253400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 b="1"/>
              <a:t>Business &amp; Cost Structure Parameters</a:t>
            </a:r>
            <a:endParaRPr sz="1900" b="1"/>
          </a:p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•"/>
            </a:pPr>
            <a:r>
              <a:rPr lang="en-US" sz="1900" b="1"/>
              <a:t>Scale: </a:t>
            </a:r>
            <a:r>
              <a:rPr lang="en-US" sz="1900"/>
              <a:t>6 Levels (10k → 50M users)</a:t>
            </a:r>
            <a:endParaRPr sz="1900"/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 b="1"/>
              <a:t>Starting Capital: </a:t>
            </a:r>
            <a:r>
              <a:rPr lang="en-US" sz="1900"/>
              <a:t>$5M → $2B</a:t>
            </a:r>
            <a:endParaRPr sz="1900"/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 b="1"/>
              <a:t>Revenue: </a:t>
            </a:r>
            <a:r>
              <a:rPr lang="en-US" sz="1900"/>
              <a:t>3.5% Merchant fee on GMV</a:t>
            </a:r>
            <a:endParaRPr sz="1900"/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 b="1"/>
              <a:t>Fixed Costs: </a:t>
            </a:r>
            <a:r>
              <a:rPr lang="en-US" sz="1900"/>
              <a:t>$0.5M – $5M monthly (tiered by user scale)</a:t>
            </a:r>
            <a:endParaRPr sz="1900" b="1"/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 b="1"/>
              <a:t>Variable Costs: </a:t>
            </a:r>
            <a:r>
              <a:rPr lang="en-US" sz="1900"/>
              <a:t>1.5% of GMV (processing, fraud, support, data)</a:t>
            </a:r>
            <a:endParaRPr sz="1900"/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 b="1"/>
              <a:t>CAC: </a:t>
            </a:r>
            <a:r>
              <a:rPr lang="en-US" sz="1900"/>
              <a:t>$50 → $20 per new user (declines with scale)</a:t>
            </a:r>
            <a:endParaRPr sz="1900"/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 b="1"/>
              <a:t>Capital Costs:</a:t>
            </a:r>
            <a:r>
              <a:rPr lang="en-US" sz="1900"/>
              <a:t> 8–20% annual interest on 80% debt-funded loan book</a:t>
            </a:r>
            <a:endParaRPr sz="1900"/>
          </a:p>
        </p:txBody>
      </p:sp>
      <p:graphicFrame>
        <p:nvGraphicFramePr>
          <p:cNvPr id="272" name="Google Shape;272;g3aed72390a7_0_32"/>
          <p:cNvGraphicFramePr/>
          <p:nvPr/>
        </p:nvGraphicFramePr>
        <p:xfrm>
          <a:off x="6378550" y="1253400"/>
          <a:ext cx="3000000" cy="3000000"/>
        </p:xfrm>
        <a:graphic>
          <a:graphicData uri="http://schemas.openxmlformats.org/drawingml/2006/table">
            <a:tbl>
              <a:tblPr bandRow="1" bandCol="1">
                <a:noFill/>
                <a:tableStyleId>{15ECB9D5-53B7-44BB-922D-8CF0724B0E8A}</a:tableStyleId>
              </a:tblPr>
              <a:tblGrid>
                <a:gridCol w="10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9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9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9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3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01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Scenario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Default Rate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GMV Growth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Recovery Rate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Capital Cost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Historical Period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+5%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2019 stable economy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Mild Recession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5.0%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2001, 2020 COVID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Severe Recession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7.5%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2008-2009 GFC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Boom Times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+15%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2021 stimulus era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Stagflation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6.0%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2022-2023 inflation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3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Rate Shock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4.0%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2023 rapid rate hikes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g3aed72390a7_0_6" title="insolvent heatm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7225" y="503600"/>
            <a:ext cx="9457551" cy="585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g3aed72390a7_0_13" title="waterfal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59975"/>
            <a:ext cx="11887198" cy="3938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ae62b3ccf9_0_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Insights</a:t>
            </a:r>
            <a:endParaRPr/>
          </a:p>
        </p:txBody>
      </p:sp>
      <p:sp>
        <p:nvSpPr>
          <p:cNvPr id="291" name="Google Shape;291;g3ae62b3ccf9_0_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0050" algn="l" rtl="0">
              <a:spcBef>
                <a:spcPts val="1000"/>
              </a:spcBef>
              <a:spcAft>
                <a:spcPts val="0"/>
              </a:spcAft>
              <a:buSzPts val="2700"/>
              <a:buFont typeface="Calibri"/>
              <a:buChar char="•"/>
            </a:pPr>
            <a:r>
              <a:rPr lang="en-US" sz="2000">
                <a:solidFill>
                  <a:srgbClr val="000000"/>
                </a:solidFill>
              </a:rPr>
              <a:t>Our risk models can accurately evaluate risk</a:t>
            </a:r>
            <a:endParaRPr sz="2000">
              <a:solidFill>
                <a:srgbClr val="000000"/>
              </a:solidFill>
            </a:endParaRPr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Font typeface="Calibri"/>
              <a:buChar char="•"/>
            </a:pPr>
            <a:r>
              <a:rPr lang="en-US" sz="2000">
                <a:solidFill>
                  <a:srgbClr val="000000"/>
                </a:solidFill>
              </a:rPr>
              <a:t>Safe to assume major companies can do so to a superior extent</a:t>
            </a:r>
            <a:endParaRPr sz="2000">
              <a:solidFill>
                <a:srgbClr val="000000"/>
              </a:solidFill>
            </a:endParaRPr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Font typeface="Calibri"/>
              <a:buChar char="•"/>
            </a:pPr>
            <a:r>
              <a:rPr lang="en-US" sz="2000">
                <a:solidFill>
                  <a:srgbClr val="000000"/>
                </a:solidFill>
              </a:rPr>
              <a:t>Across all scenarios, BNPL providers ultimately lose money - either directly through credit losses or indirectly through heavy operating costs.</a:t>
            </a:r>
            <a:endParaRPr sz="2000">
              <a:solidFill>
                <a:srgbClr val="000000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Operating costs more impactful at smaller scale</a:t>
            </a:r>
            <a:endParaRPr sz="2000">
              <a:solidFill>
                <a:srgbClr val="000000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Credit losses more significant at larger scale</a:t>
            </a:r>
            <a:endParaRPr sz="2000">
              <a:solidFill>
                <a:srgbClr val="000000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This simulation is a simplification, but strongly reflects real-world performance</a:t>
            </a:r>
            <a:endParaRPr sz="3300"/>
          </a:p>
        </p:txBody>
      </p:sp>
      <p:graphicFrame>
        <p:nvGraphicFramePr>
          <p:cNvPr id="292" name="Google Shape;292;g3ae62b3ccf9_0_6"/>
          <p:cNvGraphicFramePr/>
          <p:nvPr/>
        </p:nvGraphicFramePr>
        <p:xfrm>
          <a:off x="952500" y="4361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{F4F3A777-269D-4090-90E1-D5295F3F190F}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Klarna</a:t>
                      </a:r>
                      <a:endParaRPr sz="16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Affirm</a:t>
                      </a:r>
                      <a:endParaRPr sz="16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</a:t>
                      </a:r>
                      <a:endParaRPr sz="16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$2.8B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$2.3B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Profit / as a % of Revenue</a:t>
                      </a:r>
                      <a:endParaRPr sz="16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+$20M / 0.71%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-$500M / 21.7%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Credit Losses / as a % Revenue</a:t>
                      </a:r>
                      <a:endParaRPr sz="16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4572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$500M / 17.9%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$680M / 29.6%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e62b3ccf9_0_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Insights (2)</a:t>
            </a:r>
            <a:endParaRPr/>
          </a:p>
        </p:txBody>
      </p:sp>
      <p:sp>
        <p:nvSpPr>
          <p:cNvPr id="299" name="Google Shape;299;g3ae62b3ccf9_0_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31800" algn="l" rtl="0"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2500" b="1">
                <a:solidFill>
                  <a:srgbClr val="000000"/>
                </a:solidFill>
              </a:rPr>
              <a:t>So why would companies continue to operate in this space?</a:t>
            </a:r>
            <a:endParaRPr sz="2500" b="1">
              <a:solidFill>
                <a:srgbClr val="000000"/>
              </a:solidFill>
            </a:endParaRPr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Char char="•"/>
            </a:pPr>
            <a:r>
              <a:rPr lang="en-US" sz="2500">
                <a:solidFill>
                  <a:srgbClr val="000000"/>
                </a:solidFill>
              </a:rPr>
              <a:t>Potential path to long-term profitability </a:t>
            </a:r>
            <a:endParaRPr sz="2500">
              <a:solidFill>
                <a:srgbClr val="000000"/>
              </a:solidFill>
            </a:endParaRPr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Char char="•"/>
            </a:pPr>
            <a:r>
              <a:rPr lang="en-US" sz="2500">
                <a:solidFill>
                  <a:srgbClr val="000000"/>
                </a:solidFill>
              </a:rPr>
              <a:t>Operational gambit - Give up profit to acquire other business advantages e.g. consumer data, payment rails </a:t>
            </a:r>
            <a:endParaRPr sz="2500">
              <a:solidFill>
                <a:srgbClr val="000000"/>
              </a:solidFill>
            </a:endParaRPr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Char char="•"/>
            </a:pPr>
            <a:r>
              <a:rPr lang="en-US" sz="2500">
                <a:solidFill>
                  <a:srgbClr val="000000"/>
                </a:solidFill>
              </a:rPr>
              <a:t>BNPL as entry point to pivot into higher margin financial services e.g. advertising, credit cards</a:t>
            </a:r>
            <a:endParaRPr sz="2500">
              <a:solidFill>
                <a:srgbClr val="000000"/>
              </a:solidFill>
            </a:endParaRPr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Char char="•"/>
            </a:pPr>
            <a:r>
              <a:rPr lang="en-US" sz="2500">
                <a:solidFill>
                  <a:srgbClr val="000000"/>
                </a:solidFill>
              </a:rPr>
              <a:t>Focus on acquisitions and exits (e.g Afterpay $29Bn sale to Block Inc.)</a:t>
            </a:r>
            <a:endParaRPr sz="3900"/>
          </a:p>
        </p:txBody>
      </p:sp>
      <p:pic>
        <p:nvPicPr>
          <p:cNvPr id="300" name="Google Shape;300;g3ae62b3ccf9_0_12"/>
          <p:cNvPicPr preferRelativeResize="0"/>
          <p:nvPr/>
        </p:nvPicPr>
        <p:blipFill rotWithShape="1">
          <a:blip r:embed="rId3">
            <a:alphaModFix/>
          </a:blip>
          <a:srcRect t="17642" b="14684"/>
          <a:stretch/>
        </p:blipFill>
        <p:spPr>
          <a:xfrm>
            <a:off x="3381987" y="4461975"/>
            <a:ext cx="5428026" cy="2066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e62b3ccf9_0_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307" name="Google Shape;307;g3ae62b3ccf9_0_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93700" algn="l" rtl="0">
              <a:spcBef>
                <a:spcPts val="1000"/>
              </a:spcBef>
              <a:spcAft>
                <a:spcPts val="0"/>
              </a:spcAft>
              <a:buSzPts val="2600"/>
              <a:buFont typeface="Calibri"/>
              <a:buChar char="•"/>
            </a:pPr>
            <a:r>
              <a:rPr lang="en-US" sz="2600" b="1"/>
              <a:t>Risk prediction is not a limiting factor</a:t>
            </a:r>
            <a:endParaRPr sz="2600" b="1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Risk can accurately be evaluated, even without extensive credit history</a:t>
            </a:r>
            <a:endParaRPr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Font typeface="Calibri"/>
              <a:buChar char="•"/>
            </a:pPr>
            <a:r>
              <a:rPr lang="en-US" sz="2600" b="1"/>
              <a:t>The business model appears to be fundamentally unsustainable</a:t>
            </a:r>
            <a:endParaRPr sz="2600" b="1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/>
              <a:t>Extremely sensitive to external economic conditions</a:t>
            </a:r>
            <a:endParaRPr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/>
              <a:t>Scale alone doesn’t guarantee profitability</a:t>
            </a:r>
            <a:endParaRPr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/>
              <a:t>Operating margins are extremely thin</a:t>
            </a:r>
            <a:endParaRPr sz="1800"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 b="1"/>
          </a:p>
          <a:p>
            <a:pPr marL="381000" marR="38100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 b="1" i="1"/>
              <a:t>The “loss-leading” BNPL model may be rational: not sustainable on its own, but viable as a strategic platform for broader fintech ecosystems or future pivots.</a:t>
            </a:r>
            <a:endParaRPr sz="2200" b="1" i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553daec38_1_6"/>
          <p:cNvSpPr txBox="1">
            <a:spLocks noGrp="1"/>
          </p:cNvSpPr>
          <p:nvPr>
            <p:ph type="ctrTitle"/>
          </p:nvPr>
        </p:nvSpPr>
        <p:spPr>
          <a:xfrm>
            <a:off x="408700" y="2666100"/>
            <a:ext cx="11572800" cy="1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20"/>
              <a:buFont typeface="Calibri"/>
              <a:buNone/>
            </a:pPr>
            <a:r>
              <a:rPr lang="en-US" sz="5120" b="1"/>
              <a:t>Case Study</a:t>
            </a:r>
            <a:endParaRPr sz="5120" b="1"/>
          </a:p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20"/>
              <a:buFont typeface="Calibri"/>
              <a:buNone/>
            </a:pPr>
            <a:r>
              <a:rPr lang="en-US" sz="5120" b="1"/>
              <a:t>Goldman Sachs’ AI Infrastructure Team</a:t>
            </a:r>
            <a:endParaRPr sz="5120" b="1"/>
          </a:p>
        </p:txBody>
      </p:sp>
      <p:sp>
        <p:nvSpPr>
          <p:cNvPr id="313" name="Google Shape;313;g3a553daec38_1_6"/>
          <p:cNvSpPr txBox="1">
            <a:spLocks noGrp="1"/>
          </p:cNvSpPr>
          <p:nvPr>
            <p:ph type="ctrTitle"/>
          </p:nvPr>
        </p:nvSpPr>
        <p:spPr>
          <a:xfrm>
            <a:off x="3163000" y="812275"/>
            <a:ext cx="6064200" cy="1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20"/>
              <a:buFont typeface="Calibri"/>
              <a:buNone/>
            </a:pPr>
            <a:r>
              <a:rPr lang="en-US" sz="2320" b="1"/>
              <a:t>NON-TECHNICAL PROJECT</a:t>
            </a:r>
            <a:endParaRPr sz="2320"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6566c68ef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Content</a:t>
            </a:r>
            <a:endParaRPr/>
          </a:p>
        </p:txBody>
      </p:sp>
      <p:sp>
        <p:nvSpPr>
          <p:cNvPr id="320" name="Google Shape;320;g3a6566c68ef_0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321" name="Google Shape;321;g3a6566c68e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125" y="301425"/>
            <a:ext cx="11299476" cy="625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ec52e075a_1_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Relevant Skills</a:t>
            </a:r>
            <a:endParaRPr/>
          </a:p>
        </p:txBody>
      </p:sp>
      <p:sp>
        <p:nvSpPr>
          <p:cNvPr id="328" name="Google Shape;328;g3aec52e075a_1_8"/>
          <p:cNvSpPr txBox="1">
            <a:spLocks noGrp="1"/>
          </p:cNvSpPr>
          <p:nvPr>
            <p:ph type="body" idx="1"/>
          </p:nvPr>
        </p:nvSpPr>
        <p:spPr>
          <a:xfrm>
            <a:off x="838200" y="16908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-US" sz="1620" b="1"/>
              <a:t>Structured Finance &amp; Modeling</a:t>
            </a:r>
            <a:endParaRPr sz="1620" b="1"/>
          </a:p>
          <a:p>
            <a:pPr marL="457200" lvl="0" indent="-33147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20"/>
              <a:buChar char="●"/>
            </a:pPr>
            <a:r>
              <a:rPr lang="en-US" sz="1620" b="1"/>
              <a:t>Project Finance Modeling:</a:t>
            </a:r>
            <a:r>
              <a:rPr lang="en-US" sz="1620"/>
              <a:t> Ability to build complex DCF models for long-term cash flows, specifically for data centers and power facilities.</a:t>
            </a:r>
            <a:endParaRPr sz="1620"/>
          </a:p>
          <a:p>
            <a:pPr marL="457200" lvl="0" indent="-33147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Char char="●"/>
            </a:pPr>
            <a:r>
              <a:rPr lang="en-US" sz="1620" b="1"/>
              <a:t>Debt Structuring:</a:t>
            </a:r>
            <a:r>
              <a:rPr lang="en-US" sz="1620"/>
              <a:t> Expertise in designing loan structures (senior/mezzanine debt) and understanding balance sheet retention strategies.</a:t>
            </a:r>
            <a:endParaRPr sz="1620"/>
          </a:p>
          <a:p>
            <a:pPr marL="457200" lvl="0" indent="-33147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Char char="●"/>
            </a:pPr>
            <a:r>
              <a:rPr lang="en-US" sz="1620" b="1"/>
              <a:t>Securitization Knowledge:</a:t>
            </a:r>
            <a:r>
              <a:rPr lang="en-US" sz="1620"/>
              <a:t> Skills in packaging debt to sell to insurance companies and the broader securitization market.</a:t>
            </a:r>
            <a:endParaRPr sz="162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US" sz="1620" b="1"/>
              <a:t>Sector-Specific Technical Knowledge</a:t>
            </a:r>
            <a:endParaRPr sz="1620" b="1"/>
          </a:p>
          <a:p>
            <a:pPr marL="457200" lvl="0" indent="-33147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20"/>
              <a:buChar char="●"/>
            </a:pPr>
            <a:r>
              <a:rPr lang="en-US" sz="1620" b="1"/>
              <a:t>AI Asset Valuation:</a:t>
            </a:r>
            <a:r>
              <a:rPr lang="en-US" sz="1620"/>
              <a:t> Understanding the lifecycle, depreciation, and financing needs of AI processors and GPU equipment.</a:t>
            </a:r>
            <a:endParaRPr sz="1620"/>
          </a:p>
          <a:p>
            <a:pPr marL="457200" lvl="0" indent="-33147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Char char="●"/>
            </a:pPr>
            <a:r>
              <a:rPr lang="en-US" sz="1620" b="1"/>
              <a:t>Infrastructure Insights:</a:t>
            </a:r>
            <a:r>
              <a:rPr lang="en-US" sz="1620"/>
              <a:t> Deep understanding of physical assets including data center operations, power/energy grids(PPA etc), and renewable energy financing.</a:t>
            </a:r>
            <a:endParaRPr sz="1620"/>
          </a:p>
          <a:p>
            <a:pPr marL="457200" lvl="0" indent="-33147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Char char="●"/>
            </a:pPr>
            <a:r>
              <a:rPr lang="en-US" sz="1620" b="1"/>
              <a:t>Market Analysis:</a:t>
            </a:r>
            <a:r>
              <a:rPr lang="en-US" sz="1620"/>
              <a:t> Ability to analyze the surge in government and corporate borrowing demand related to AI and defense spending.</a:t>
            </a:r>
            <a:endParaRPr sz="122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720"/>
              <a:buNone/>
            </a:pPr>
            <a:endParaRPr sz="122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aec52e075a_1_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Job Requirements</a:t>
            </a:r>
            <a:endParaRPr/>
          </a:p>
        </p:txBody>
      </p:sp>
      <p:sp>
        <p:nvSpPr>
          <p:cNvPr id="335" name="Google Shape;335;g3aec52e075a_1_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358"/>
              <a:buNone/>
            </a:pPr>
            <a:r>
              <a:rPr lang="en-US" sz="1835" b="1"/>
              <a:t>Educational &amp; Professional Background</a:t>
            </a:r>
            <a:endParaRPr sz="1835" b="1"/>
          </a:p>
          <a:p>
            <a:pPr marL="457200" lvl="0" indent="-345147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35"/>
              <a:buChar char="●"/>
            </a:pPr>
            <a:r>
              <a:rPr lang="en-US" sz="1835" b="1"/>
              <a:t>Academic Focus:</a:t>
            </a:r>
            <a:r>
              <a:rPr lang="en-US" sz="1835"/>
              <a:t> Strong background in Finance, Economics, or Quantitative fields. Engineering/CS backgrounds are increasingly valued for understanding the underlying physical assets.</a:t>
            </a:r>
            <a:endParaRPr sz="1835"/>
          </a:p>
          <a:p>
            <a:pPr marL="457200" lvl="0" indent="-34514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35"/>
              <a:buChar char="●"/>
            </a:pPr>
            <a:r>
              <a:rPr lang="en-US" sz="1835" b="1"/>
              <a:t>Certifications:</a:t>
            </a:r>
            <a:r>
              <a:rPr lang="en-US" sz="1835"/>
              <a:t> CFA (Chartered Financial Analyst) and SIE (Securities Industry Essentials) are strong indicators of technical proficiency.</a:t>
            </a:r>
            <a:endParaRPr sz="1835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-US" sz="1835" b="1"/>
              <a:t>Experience &amp; Knowledge Base</a:t>
            </a:r>
            <a:endParaRPr sz="1835" b="1"/>
          </a:p>
          <a:p>
            <a:pPr marL="457200" lvl="0" indent="-345147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35"/>
              <a:buChar char="●"/>
            </a:pPr>
            <a:r>
              <a:rPr lang="en-US" sz="1835" b="1"/>
              <a:t>Capital Solutions Experience:</a:t>
            </a:r>
            <a:r>
              <a:rPr lang="en-US" sz="1835"/>
              <a:t> Experience in private credit, loan arrangement, or alternative capital markets.</a:t>
            </a:r>
            <a:endParaRPr sz="1835"/>
          </a:p>
          <a:p>
            <a:pPr marL="457200" lvl="0" indent="-34514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35"/>
              <a:buChar char="●"/>
            </a:pPr>
            <a:r>
              <a:rPr lang="en-US" sz="1835" b="1"/>
              <a:t>Deal Experience:</a:t>
            </a:r>
            <a:r>
              <a:rPr lang="en-US" sz="1835"/>
              <a:t> Proven track record in executing billion-dollar scale financing deals or complex infrastructure projects.</a:t>
            </a:r>
            <a:endParaRPr sz="1835"/>
          </a:p>
          <a:p>
            <a:pPr marL="457200" lvl="0" indent="-34514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35"/>
              <a:buChar char="●"/>
            </a:pPr>
            <a:r>
              <a:rPr lang="en-US" sz="1835" b="1"/>
              <a:t>Cross-Functional Agility:</a:t>
            </a:r>
            <a:r>
              <a:rPr lang="en-US" sz="1835"/>
              <a:t> Ability to work within the "Global Banking and Markets" division, collaborating across FICC and asset management teams.</a:t>
            </a:r>
            <a:endParaRPr sz="1435" b="1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585"/>
              <a:buNone/>
            </a:pPr>
            <a:endParaRPr sz="111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aec52e075a_1_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Career Paths</a:t>
            </a:r>
            <a:endParaRPr/>
          </a:p>
        </p:txBody>
      </p:sp>
      <p:sp>
        <p:nvSpPr>
          <p:cNvPr id="342" name="Google Shape;342;g3aec52e075a_1_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233" b="1"/>
              <a:t>Infrastructure Private Equity:</a:t>
            </a:r>
            <a:r>
              <a:rPr lang="en-US" sz="2233"/>
              <a:t> Transition to top-tier PE firms (e.g., Blackstone, KKR) that are aggressively acquiring data centers and digital infrastructure.</a:t>
            </a:r>
            <a:endParaRPr sz="2233"/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233" b="1"/>
              <a:t>Tech Strategy (Hyperscalers):</a:t>
            </a:r>
            <a:r>
              <a:rPr lang="en-US" sz="2233"/>
              <a:t> Strategic finance roles at major tech firms (Google/Microsoft/Amazon) managing capital expenditure for AI infrastructure.</a:t>
            </a:r>
            <a:endParaRPr sz="2233"/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233" b="1"/>
              <a:t>Specialized Investment Funds:</a:t>
            </a:r>
            <a:r>
              <a:rPr lang="en-US" sz="2233"/>
              <a:t> Opportunities in funds focused specifically on energy transition and digital assets.</a:t>
            </a:r>
            <a:endParaRPr sz="5531"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33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a553daec38_1_0"/>
          <p:cNvSpPr txBox="1">
            <a:spLocks noGrp="1"/>
          </p:cNvSpPr>
          <p:nvPr>
            <p:ph type="ctrTitle"/>
          </p:nvPr>
        </p:nvSpPr>
        <p:spPr>
          <a:xfrm>
            <a:off x="1524000" y="22351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a5ac6c22fe_0_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Work Cited</a:t>
            </a:r>
            <a:endParaRPr/>
          </a:p>
        </p:txBody>
      </p:sp>
      <p:sp>
        <p:nvSpPr>
          <p:cNvPr id="355" name="Google Shape;355;g3a5ac6c22fe_0_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700" u="sng">
              <a:solidFill>
                <a:schemeClr val="hlink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ke Light">
      <a:dk1>
        <a:srgbClr val="001A57"/>
      </a:dk1>
      <a:lt1>
        <a:srgbClr val="FFFFFF"/>
      </a:lt1>
      <a:dk2>
        <a:srgbClr val="666666"/>
      </a:dk2>
      <a:lt2>
        <a:srgbClr val="E2E6ED"/>
      </a:lt2>
      <a:accent1>
        <a:srgbClr val="005587"/>
      </a:accent1>
      <a:accent2>
        <a:srgbClr val="0577B1"/>
      </a:accent2>
      <a:accent3>
        <a:srgbClr val="FFD960"/>
      </a:accent3>
      <a:accent4>
        <a:srgbClr val="C84E00"/>
      </a:accent4>
      <a:accent5>
        <a:srgbClr val="993399"/>
      </a:accent5>
      <a:accent6>
        <a:srgbClr val="339898"/>
      </a:accent6>
      <a:hlink>
        <a:srgbClr val="E89923"/>
      </a:hlink>
      <a:folHlink>
        <a:srgbClr val="E8992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Duke Light">
      <a:dk1>
        <a:srgbClr val="001A57"/>
      </a:dk1>
      <a:lt1>
        <a:srgbClr val="FFFFFF"/>
      </a:lt1>
      <a:dk2>
        <a:srgbClr val="666666"/>
      </a:dk2>
      <a:lt2>
        <a:srgbClr val="E2E6ED"/>
      </a:lt2>
      <a:accent1>
        <a:srgbClr val="005587"/>
      </a:accent1>
      <a:accent2>
        <a:srgbClr val="0577B1"/>
      </a:accent2>
      <a:accent3>
        <a:srgbClr val="FFD960"/>
      </a:accent3>
      <a:accent4>
        <a:srgbClr val="C84E00"/>
      </a:accent4>
      <a:accent5>
        <a:srgbClr val="993399"/>
      </a:accent5>
      <a:accent6>
        <a:srgbClr val="339898"/>
      </a:accent6>
      <a:hlink>
        <a:srgbClr val="E89923"/>
      </a:hlink>
      <a:folHlink>
        <a:srgbClr val="E8992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1940</Words>
  <Application>Microsoft Macintosh PowerPoint</Application>
  <PresentationFormat>Widescreen</PresentationFormat>
  <Paragraphs>255</Paragraphs>
  <Slides>26</Slides>
  <Notes>26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Office Theme</vt:lpstr>
      <vt:lpstr>Office Theme</vt:lpstr>
      <vt:lpstr>Buy-Now-Pay-Later: A Risk Management Perspective</vt:lpstr>
      <vt:lpstr>Content</vt:lpstr>
      <vt:lpstr>Introduction</vt:lpstr>
      <vt:lpstr>Market Landscape</vt:lpstr>
      <vt:lpstr>Problem &amp; Objective</vt:lpstr>
      <vt:lpstr>Methodology</vt:lpstr>
      <vt:lpstr>Risk Modeling Pipeline</vt:lpstr>
      <vt:lpstr>Data</vt:lpstr>
      <vt:lpstr>Risk Model: Feature Selection</vt:lpstr>
      <vt:lpstr>Risk Model: Training </vt:lpstr>
      <vt:lpstr>Risk Model: Performance</vt:lpstr>
      <vt:lpstr>Risk Model: Performance (2)</vt:lpstr>
      <vt:lpstr>Simulation</vt:lpstr>
      <vt:lpstr>Simulation (2) </vt:lpstr>
      <vt:lpstr>PowerPoint Presentation</vt:lpstr>
      <vt:lpstr>PowerPoint Presentation</vt:lpstr>
      <vt:lpstr>Insights</vt:lpstr>
      <vt:lpstr>Insights (2)</vt:lpstr>
      <vt:lpstr>Conclusion</vt:lpstr>
      <vt:lpstr>Case Study Goldman Sachs’ AI Infrastructure Team</vt:lpstr>
      <vt:lpstr>Content</vt:lpstr>
      <vt:lpstr>Relevant Skills</vt:lpstr>
      <vt:lpstr>Job Requirements</vt:lpstr>
      <vt:lpstr>Career Paths</vt:lpstr>
      <vt:lpstr>THANK YOU</vt:lpstr>
      <vt:lpstr>Work Cited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Hongzheng Cui</dc:creator>
  <cp:lastModifiedBy>Vishesh Gupta</cp:lastModifiedBy>
  <cp:revision>1</cp:revision>
  <dcterms:created xsi:type="dcterms:W3CDTF">2023-08-28T21:06:28Z</dcterms:created>
  <dcterms:modified xsi:type="dcterms:W3CDTF">2025-12-10T02:44:26Z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0x010100808AD9F3E8A1104C8C7579F07FB195D1</vt:lpwstr>
  </property>
</Properties>
</file>