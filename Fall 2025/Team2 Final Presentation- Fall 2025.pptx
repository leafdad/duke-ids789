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D52B79-897F-4662-80DE-A01C78C6B533}">
  <a:tblStyle styleId="{A6D52B79-897F-4662-80DE-A01C78C6B5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8B65FD8-82B9-49DD-8972-F77D1719EED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e5aca202a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62" name="Google Shape;62;g3ae5aca202a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e5aca202a_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73" name="Google Shape;73;g3ae5aca202a_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e5aca202a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80" name="Google Shape;80;g3ae5aca202a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e5aca202a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87" name="Google Shape;87;g3ae5aca202a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e5aca202a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94" name="Google Shape;94;g3ae5aca202a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ec722657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01" name="Google Shape;101;g3aec722657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e5aca202a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08" name="Google Shape;108;g3ae5aca202a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e5aca202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15" name="Google Shape;115;g3ae5aca202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e5aca202a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22" name="Google Shape;122;g3ae5aca202a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e5aca202a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29" name="Google Shape;129;g3ae5aca202a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e5aca202a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36" name="Google Shape;136;g3ae5aca202a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e5aca202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44" name="Google Shape;144;g3ae5aca202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e5aca202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52" name="Google Shape;152;g3ae5aca202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ec722657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60" name="Google Shape;160;g3aec722657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ec72265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71" name="Google Shape;171;g3aec72265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ec722657e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80" name="Google Shape;180;g3aec722657e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ec722657e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90" name="Google Shape;190;g3aec722657e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ec722657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98" name="Google Shape;198;g3aec722657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erial">
  <p:cSld name="Title Slide - Aerial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1975" y="135514"/>
            <a:ext cx="1477225" cy="6531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3600" b="1" cap="none">
                <a:solidFill>
                  <a:srgbClr val="00558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>
                <a:solidFill>
                  <a:srgbClr val="888888"/>
                </a:solidFill>
              </a:defRPr>
            </a:lvl1pPr>
            <a:lvl2pPr lvl="1">
              <a:buNone/>
              <a:defRPr>
                <a:solidFill>
                  <a:srgbClr val="888888"/>
                </a:solidFill>
              </a:defRPr>
            </a:lvl2pPr>
            <a:lvl3pPr lvl="2">
              <a:buNone/>
              <a:defRPr>
                <a:solidFill>
                  <a:srgbClr val="888888"/>
                </a:solidFill>
              </a:defRPr>
            </a:lvl3pPr>
            <a:lvl4pPr lvl="3">
              <a:buNone/>
              <a:defRPr>
                <a:solidFill>
                  <a:srgbClr val="888888"/>
                </a:solidFill>
              </a:defRPr>
            </a:lvl4pPr>
            <a:lvl5pPr lvl="4">
              <a:buNone/>
              <a:defRPr>
                <a:solidFill>
                  <a:srgbClr val="888888"/>
                </a:solidFill>
              </a:defRPr>
            </a:lvl5pPr>
            <a:lvl6pPr lvl="5">
              <a:buNone/>
              <a:defRPr>
                <a:solidFill>
                  <a:srgbClr val="888888"/>
                </a:solidFill>
              </a:defRPr>
            </a:lvl6pPr>
            <a:lvl7pPr lvl="6">
              <a:buNone/>
              <a:defRPr>
                <a:solidFill>
                  <a:srgbClr val="888888"/>
                </a:solidFill>
              </a:defRPr>
            </a:lvl7pPr>
            <a:lvl8pPr lvl="7">
              <a:buNone/>
              <a:defRPr>
                <a:solidFill>
                  <a:srgbClr val="888888"/>
                </a:solidFill>
              </a:defRPr>
            </a:lvl8pPr>
            <a:lvl9pPr lvl="8"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2319" y="4749850"/>
            <a:ext cx="89020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5"/>
          <p:cNvGrpSpPr/>
          <p:nvPr/>
        </p:nvGrpSpPr>
        <p:grpSpPr>
          <a:xfrm>
            <a:off x="-711177" y="1481171"/>
            <a:ext cx="8966037" cy="1556896"/>
            <a:chOff x="-710627" y="2308569"/>
            <a:chExt cx="8127300" cy="1826700"/>
          </a:xfrm>
        </p:grpSpPr>
        <p:sp>
          <p:nvSpPr>
            <p:cNvPr id="65" name="Google Shape;65;p15"/>
            <p:cNvSpPr/>
            <p:nvPr/>
          </p:nvSpPr>
          <p:spPr>
            <a:xfrm>
              <a:off x="-710627" y="2308569"/>
              <a:ext cx="8127300" cy="1826700"/>
            </a:xfrm>
            <a:prstGeom prst="parallelogram">
              <a:avLst>
                <a:gd name="adj" fmla="val 37685"/>
              </a:avLst>
            </a:prstGeom>
            <a:solidFill>
              <a:srgbClr val="012169">
                <a:alpha val="8941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680C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15"/>
            <p:cNvSpPr txBox="1"/>
            <p:nvPr/>
          </p:nvSpPr>
          <p:spPr>
            <a:xfrm>
              <a:off x="302127" y="2308569"/>
              <a:ext cx="6598800" cy="17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300">
                  <a:solidFill>
                    <a:schemeClr val="lt1"/>
                  </a:solidFill>
                </a:rPr>
                <a:t>Team 2 | Final Presentation</a:t>
              </a:r>
              <a:endParaRPr sz="2300">
                <a:solidFill>
                  <a:schemeClr val="lt1"/>
                </a:solidFill>
              </a:endParaRPr>
            </a:p>
          </p:txBody>
        </p:sp>
      </p:grpSp>
      <p:grpSp>
        <p:nvGrpSpPr>
          <p:cNvPr id="67" name="Google Shape;67;p15"/>
          <p:cNvGrpSpPr/>
          <p:nvPr/>
        </p:nvGrpSpPr>
        <p:grpSpPr>
          <a:xfrm>
            <a:off x="4045889" y="3569098"/>
            <a:ext cx="5472000" cy="1025404"/>
            <a:chOff x="4318000" y="3774730"/>
            <a:chExt cx="5472000" cy="1368300"/>
          </a:xfrm>
        </p:grpSpPr>
        <p:sp>
          <p:nvSpPr>
            <p:cNvPr id="68" name="Google Shape;68;p15"/>
            <p:cNvSpPr/>
            <p:nvPr/>
          </p:nvSpPr>
          <p:spPr>
            <a:xfrm>
              <a:off x="4318000" y="3774730"/>
              <a:ext cx="5472000" cy="1368300"/>
            </a:xfrm>
            <a:prstGeom prst="parallelogram">
              <a:avLst>
                <a:gd name="adj" fmla="val 37685"/>
              </a:avLst>
            </a:prstGeom>
            <a:solidFill>
              <a:srgbClr val="005587">
                <a:alpha val="8941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680C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4682412" y="3774733"/>
              <a:ext cx="4733700" cy="13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lang="en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Jenny Chan, Patrick Zhu, Gaurav Law, Isaac Vergara</a:t>
              </a:r>
              <a:endPara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lang="en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Fall 2025</a:t>
              </a:r>
              <a:endPara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222050" y="397225"/>
            <a:ext cx="8572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700"/>
              <a:t>Introduction - Motivation &amp; Research Topic</a:t>
            </a:r>
            <a:endParaRPr sz="2700"/>
          </a:p>
        </p:txBody>
      </p:sp>
      <p:sp>
        <p:nvSpPr>
          <p:cNvPr id="76" name="Google Shape;76;p16"/>
          <p:cNvSpPr txBox="1"/>
          <p:nvPr/>
        </p:nvSpPr>
        <p:spPr>
          <a:xfrm>
            <a:off x="259275" y="930025"/>
            <a:ext cx="8019300" cy="3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5587"/>
                </a:solidFill>
              </a:rPr>
              <a:t>Background</a:t>
            </a:r>
            <a:endParaRPr b="1">
              <a:solidFill>
                <a:srgbClr val="005587"/>
              </a:solidFill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400"/>
              <a:buChar char="●"/>
            </a:pPr>
            <a:r>
              <a:rPr lang="en">
                <a:solidFill>
                  <a:srgbClr val="005587"/>
                </a:solidFill>
              </a:rPr>
              <a:t>Growing importance of </a:t>
            </a:r>
            <a:r>
              <a:rPr lang="en" b="1">
                <a:solidFill>
                  <a:srgbClr val="005587"/>
                </a:solidFill>
              </a:rPr>
              <a:t>ML in credit risk </a:t>
            </a:r>
            <a:r>
              <a:rPr lang="en">
                <a:solidFill>
                  <a:srgbClr val="005587"/>
                </a:solidFill>
              </a:rPr>
              <a:t>(2008 financial crisis, post-2015 FinTech, Industry 4.0)</a:t>
            </a:r>
            <a:endParaRPr>
              <a:solidFill>
                <a:srgbClr val="005587"/>
              </a:solidFill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400"/>
              <a:buChar char="●"/>
            </a:pPr>
            <a:r>
              <a:rPr lang="en">
                <a:solidFill>
                  <a:srgbClr val="005587"/>
                </a:solidFill>
              </a:rPr>
              <a:t>Industry trajectory: </a:t>
            </a:r>
            <a:r>
              <a:rPr lang="en" b="1">
                <a:solidFill>
                  <a:srgbClr val="005587"/>
                </a:solidFill>
              </a:rPr>
              <a:t>shifting towards alternative data </a:t>
            </a:r>
            <a:endParaRPr b="1">
              <a:solidFill>
                <a:srgbClr val="005587"/>
              </a:solidFill>
            </a:endParaRPr>
          </a:p>
          <a:p>
            <a:pPr marL="914400" marR="0" lvl="1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400"/>
              <a:buChar char="○"/>
            </a:pPr>
            <a:r>
              <a:rPr lang="en">
                <a:solidFill>
                  <a:srgbClr val="005587"/>
                </a:solidFill>
              </a:rPr>
              <a:t>Since July, FHFA has allowed lenders to use VantageScore 4.0 for mortgage loans sold to Fannie Mae and Freddie Mac</a:t>
            </a:r>
            <a:endParaRPr>
              <a:solidFill>
                <a:srgbClr val="005587"/>
              </a:solidFill>
            </a:endParaRPr>
          </a:p>
          <a:p>
            <a:pPr marL="45720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400"/>
              <a:buChar char="●"/>
            </a:pPr>
            <a:r>
              <a:rPr lang="en">
                <a:solidFill>
                  <a:srgbClr val="005587"/>
                </a:solidFill>
              </a:rPr>
              <a:t>Credit risk models determine inclusion in financial system (defines </a:t>
            </a:r>
            <a:r>
              <a:rPr lang="en" b="1">
                <a:solidFill>
                  <a:srgbClr val="005587"/>
                </a:solidFill>
              </a:rPr>
              <a:t>who gets opportunity</a:t>
            </a:r>
            <a:r>
              <a:rPr lang="en">
                <a:solidFill>
                  <a:srgbClr val="005587"/>
                </a:solidFill>
              </a:rPr>
              <a:t>)</a:t>
            </a:r>
            <a:endParaRPr>
              <a:solidFill>
                <a:srgbClr val="005587"/>
              </a:solidFill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5587"/>
                </a:solidFill>
              </a:rPr>
              <a:t>Research Topic</a:t>
            </a:r>
            <a:endParaRPr b="1">
              <a:solidFill>
                <a:srgbClr val="005587"/>
              </a:solidFill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400"/>
              <a:buChar char="●"/>
            </a:pPr>
            <a:r>
              <a:rPr lang="en">
                <a:solidFill>
                  <a:srgbClr val="005587"/>
                </a:solidFill>
              </a:rPr>
              <a:t>How do we design models that are </a:t>
            </a:r>
            <a:r>
              <a:rPr lang="en" b="1">
                <a:solidFill>
                  <a:srgbClr val="005587"/>
                </a:solidFill>
              </a:rPr>
              <a:t>accurate, fair, and transparent</a:t>
            </a:r>
            <a:r>
              <a:rPr lang="en">
                <a:solidFill>
                  <a:srgbClr val="005587"/>
                </a:solidFill>
              </a:rPr>
              <a:t>? </a:t>
            </a:r>
            <a:endParaRPr>
              <a:solidFill>
                <a:srgbClr val="005587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5587"/>
                </a:solidFill>
              </a:rPr>
              <a:t>Objectives</a:t>
            </a:r>
            <a:endParaRPr b="1">
              <a:solidFill>
                <a:srgbClr val="005587"/>
              </a:solidFill>
            </a:endParaRPr>
          </a:p>
          <a:p>
            <a:pPr marL="914400" lvl="1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400"/>
              <a:buChar char="○"/>
            </a:pPr>
            <a:r>
              <a:rPr lang="en">
                <a:solidFill>
                  <a:srgbClr val="005587"/>
                </a:solidFill>
              </a:rPr>
              <a:t>Research designs and limitations for current major third-party consumer credit scoring systems (FICO, VantageScore, Bureau Proprietary Scores)</a:t>
            </a:r>
            <a:endParaRPr>
              <a:solidFill>
                <a:srgbClr val="005587"/>
              </a:solidFill>
            </a:endParaRPr>
          </a:p>
          <a:p>
            <a:pPr marL="914400" lvl="1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400"/>
              <a:buChar char="○"/>
            </a:pPr>
            <a:r>
              <a:rPr lang="en">
                <a:solidFill>
                  <a:srgbClr val="005587"/>
                </a:solidFill>
              </a:rPr>
              <a:t>Build a ML credit scoring model to responsibly expand access to credit, particularly for thin-file users</a:t>
            </a:r>
            <a:endParaRPr>
              <a:solidFill>
                <a:srgbClr val="005587"/>
              </a:solidFill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247400" y="347625"/>
            <a:ext cx="8572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100"/>
              <a:t>Non-Technical Project</a:t>
            </a:r>
            <a:endParaRPr sz="31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700"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81650" y="866825"/>
            <a:ext cx="8890200" cy="39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300"/>
              <a:buChar char="●"/>
            </a:pPr>
            <a:r>
              <a:rPr lang="en" sz="1300" b="1">
                <a:solidFill>
                  <a:srgbClr val="005587"/>
                </a:solidFill>
              </a:rPr>
              <a:t>FICO</a:t>
            </a:r>
            <a:endParaRPr sz="1300" b="1">
              <a:solidFill>
                <a:srgbClr val="005587"/>
              </a:solidFill>
            </a:endParaRPr>
          </a:p>
          <a:p>
            <a:pPr marL="914400" lvl="1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300"/>
              <a:buChar char="○"/>
            </a:pPr>
            <a:r>
              <a:rPr lang="en" sz="1300">
                <a:solidFill>
                  <a:srgbClr val="005587"/>
                </a:solidFill>
              </a:rPr>
              <a:t>Designed to provide </a:t>
            </a:r>
            <a:r>
              <a:rPr lang="en" sz="1300" b="1">
                <a:solidFill>
                  <a:srgbClr val="005587"/>
                </a:solidFill>
              </a:rPr>
              <a:t>consistent</a:t>
            </a:r>
            <a:r>
              <a:rPr lang="en" sz="1300">
                <a:solidFill>
                  <a:srgbClr val="005587"/>
                </a:solidFill>
              </a:rPr>
              <a:t>, </a:t>
            </a:r>
            <a:r>
              <a:rPr lang="en" sz="1300" b="1">
                <a:solidFill>
                  <a:srgbClr val="005587"/>
                </a:solidFill>
              </a:rPr>
              <a:t>interpretable</a:t>
            </a:r>
            <a:r>
              <a:rPr lang="en" sz="1300">
                <a:solidFill>
                  <a:srgbClr val="005587"/>
                </a:solidFill>
              </a:rPr>
              <a:t>, </a:t>
            </a:r>
            <a:r>
              <a:rPr lang="en" sz="1300" b="1">
                <a:solidFill>
                  <a:srgbClr val="005587"/>
                </a:solidFill>
              </a:rPr>
              <a:t>comparable </a:t>
            </a:r>
            <a:r>
              <a:rPr lang="en" sz="1300">
                <a:solidFill>
                  <a:srgbClr val="005587"/>
                </a:solidFill>
              </a:rPr>
              <a:t>scores for underwriting, pricing, and compliance</a:t>
            </a:r>
            <a:endParaRPr sz="1300">
              <a:solidFill>
                <a:srgbClr val="005587"/>
              </a:solidFill>
            </a:endParaRPr>
          </a:p>
          <a:p>
            <a:pPr marL="1371600" lvl="2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300"/>
              <a:buChar char="■"/>
            </a:pPr>
            <a:r>
              <a:rPr lang="en" sz="1300">
                <a:solidFill>
                  <a:srgbClr val="005587"/>
                </a:solidFill>
              </a:rPr>
              <a:t>Uses logistic regression → easy to explain </a:t>
            </a:r>
            <a:endParaRPr sz="1300">
              <a:solidFill>
                <a:srgbClr val="005587"/>
              </a:solidFill>
            </a:endParaRPr>
          </a:p>
          <a:p>
            <a:pPr marL="1371600" lvl="2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300"/>
              <a:buChar char="■"/>
            </a:pPr>
            <a:r>
              <a:rPr lang="en" sz="1300">
                <a:solidFill>
                  <a:srgbClr val="005587"/>
                </a:solidFill>
              </a:rPr>
              <a:t>Limited variable set → keeps the model stable across economic cycles</a:t>
            </a:r>
            <a:endParaRPr sz="1300">
              <a:solidFill>
                <a:srgbClr val="005587"/>
              </a:solidFill>
            </a:endParaRPr>
          </a:p>
          <a:p>
            <a:pPr marL="4572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300"/>
              <a:buChar char="●"/>
            </a:pPr>
            <a:r>
              <a:rPr lang="en" sz="1300" b="1">
                <a:solidFill>
                  <a:srgbClr val="005587"/>
                </a:solidFill>
              </a:rPr>
              <a:t>VantageScore 4.0</a:t>
            </a:r>
            <a:endParaRPr sz="1300" b="1">
              <a:solidFill>
                <a:srgbClr val="005587"/>
              </a:solidFill>
            </a:endParaRPr>
          </a:p>
          <a:p>
            <a:pPr marL="914400" lvl="1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300"/>
              <a:buChar char="○"/>
            </a:pPr>
            <a:r>
              <a:rPr lang="en" sz="1300">
                <a:solidFill>
                  <a:srgbClr val="005587"/>
                </a:solidFill>
              </a:rPr>
              <a:t>Designed to score more consumers, including </a:t>
            </a:r>
            <a:r>
              <a:rPr lang="en" sz="1300" b="1">
                <a:solidFill>
                  <a:srgbClr val="005587"/>
                </a:solidFill>
              </a:rPr>
              <a:t>thin-files and new-to-credit </a:t>
            </a:r>
            <a:r>
              <a:rPr lang="en" sz="1300">
                <a:solidFill>
                  <a:srgbClr val="005587"/>
                </a:solidFill>
              </a:rPr>
              <a:t>and improve predictive power</a:t>
            </a:r>
            <a:endParaRPr sz="1300">
              <a:solidFill>
                <a:srgbClr val="005587"/>
              </a:solidFill>
            </a:endParaRPr>
          </a:p>
          <a:p>
            <a:pPr marL="1371600" lvl="2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300"/>
              <a:buChar char="■"/>
            </a:pPr>
            <a:r>
              <a:rPr lang="en" sz="1300">
                <a:solidFill>
                  <a:srgbClr val="005587"/>
                </a:solidFill>
              </a:rPr>
              <a:t>ML-based weighting → captures nonlinear patterns, improving accuracy for consumers with limited files</a:t>
            </a:r>
            <a:endParaRPr sz="1300">
              <a:solidFill>
                <a:srgbClr val="005587"/>
              </a:solidFill>
            </a:endParaRPr>
          </a:p>
          <a:p>
            <a:pPr marL="1371600" lvl="2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300"/>
              <a:buChar char="■"/>
            </a:pPr>
            <a:r>
              <a:rPr lang="en" sz="1300">
                <a:solidFill>
                  <a:srgbClr val="005587"/>
                </a:solidFill>
              </a:rPr>
              <a:t>Inclusion of alternative data → helps to score credit thin or credit invisible</a:t>
            </a:r>
            <a:endParaRPr sz="1300">
              <a:solidFill>
                <a:srgbClr val="005587"/>
              </a:solidFill>
            </a:endParaRPr>
          </a:p>
          <a:p>
            <a:pPr marL="457200" marR="824180" lvl="0" indent="-311150" algn="l" rtl="0">
              <a:lnSpc>
                <a:spcPct val="124909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300"/>
              <a:buChar char="●"/>
            </a:pPr>
            <a:r>
              <a:rPr lang="en" sz="1300" b="1">
                <a:solidFill>
                  <a:srgbClr val="005587"/>
                </a:solidFill>
              </a:rPr>
              <a:t>ML-First Fintech Scores </a:t>
            </a:r>
            <a:r>
              <a:rPr lang="en" sz="1300">
                <a:solidFill>
                  <a:srgbClr val="005587"/>
                </a:solidFill>
              </a:rPr>
              <a:t>(e.g., Upstart, Zest AI)</a:t>
            </a:r>
            <a:endParaRPr sz="1300">
              <a:solidFill>
                <a:srgbClr val="005587"/>
              </a:solidFill>
            </a:endParaRPr>
          </a:p>
          <a:p>
            <a:pPr marL="914400" marR="824180" lvl="1" indent="-311150" algn="l" rtl="0">
              <a:lnSpc>
                <a:spcPct val="124909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300"/>
              <a:buChar char="○"/>
            </a:pPr>
            <a:r>
              <a:rPr lang="en" sz="1300">
                <a:solidFill>
                  <a:srgbClr val="005587"/>
                </a:solidFill>
              </a:rPr>
              <a:t>Designed to use ML to uncover nonlinear patterns and improve predictive power </a:t>
            </a:r>
            <a:endParaRPr sz="1300">
              <a:solidFill>
                <a:srgbClr val="005587"/>
              </a:solidFill>
            </a:endParaRPr>
          </a:p>
          <a:p>
            <a:pPr marL="1371600" marR="824180" lvl="2" indent="-311150" algn="l" rtl="0">
              <a:lnSpc>
                <a:spcPct val="124909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300"/>
              <a:buChar char="■"/>
            </a:pPr>
            <a:r>
              <a:rPr lang="en" sz="1300">
                <a:solidFill>
                  <a:srgbClr val="005587"/>
                </a:solidFill>
              </a:rPr>
              <a:t>Upstart reports its model can approve 27% more borrowers at the same default rate while reducing APRs by 16% for approved loans</a:t>
            </a:r>
            <a:endParaRPr sz="1300">
              <a:solidFill>
                <a:srgbClr val="005587"/>
              </a:solidFill>
            </a:endParaRPr>
          </a:p>
          <a:p>
            <a:pPr marL="1371600" marR="824180" lvl="2" indent="-311150" algn="l" rtl="0">
              <a:lnSpc>
                <a:spcPct val="124909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300"/>
              <a:buChar char="■"/>
            </a:pPr>
            <a:r>
              <a:rPr lang="en" sz="1300">
                <a:solidFill>
                  <a:srgbClr val="005587"/>
                </a:solidFill>
              </a:rPr>
              <a:t>Their trade-offs are "black box" interpretability, model risk, and intense regulatory scrutiny regarding fairness and bias</a:t>
            </a:r>
            <a:endParaRPr sz="1300" b="1">
              <a:solidFill>
                <a:srgbClr val="00558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247400" y="347625"/>
            <a:ext cx="8572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600"/>
              <a:t>What Is Risk Management (and Why It Matters)?</a:t>
            </a:r>
            <a:endParaRPr sz="2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200"/>
          </a:p>
        </p:txBody>
      </p:sp>
      <p:sp>
        <p:nvSpPr>
          <p:cNvPr id="90" name="Google Shape;90;p18"/>
          <p:cNvSpPr txBox="1"/>
          <p:nvPr/>
        </p:nvSpPr>
        <p:spPr>
          <a:xfrm>
            <a:off x="247400" y="929825"/>
            <a:ext cx="7920600" cy="4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12169"/>
              </a:buClr>
              <a:buSzPts val="2000"/>
              <a:buChar char="●"/>
            </a:pPr>
            <a:r>
              <a:rPr lang="en" sz="2000">
                <a:solidFill>
                  <a:srgbClr val="012169"/>
                </a:solidFill>
              </a:rPr>
              <a:t>Core function in banks, mortgage lenders, card issuers, and analytics firms.</a:t>
            </a:r>
            <a:endParaRPr sz="2000">
              <a:solidFill>
                <a:srgbClr val="01216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2000"/>
              <a:buChar char="●"/>
            </a:pPr>
            <a:r>
              <a:rPr lang="en" sz="2000">
                <a:solidFill>
                  <a:srgbClr val="012169"/>
                </a:solidFill>
              </a:rPr>
              <a:t>Goal: </a:t>
            </a:r>
            <a:r>
              <a:rPr lang="en" sz="2000" b="1">
                <a:solidFill>
                  <a:srgbClr val="012169"/>
                </a:solidFill>
              </a:rPr>
              <a:t>identify, measure, monitor, and mitigate</a:t>
            </a:r>
            <a:r>
              <a:rPr lang="en" sz="2000">
                <a:solidFill>
                  <a:srgbClr val="012169"/>
                </a:solidFill>
              </a:rPr>
              <a:t> key risks</a:t>
            </a:r>
            <a:endParaRPr sz="2000">
              <a:solidFill>
                <a:srgbClr val="012169"/>
              </a:solidFill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2000"/>
              <a:buChar char="○"/>
            </a:pPr>
            <a:r>
              <a:rPr lang="en" sz="2000">
                <a:solidFill>
                  <a:srgbClr val="012169"/>
                </a:solidFill>
              </a:rPr>
              <a:t>Credit, market, operational, liquidity, model risk.</a:t>
            </a:r>
            <a:endParaRPr sz="2000">
              <a:solidFill>
                <a:srgbClr val="01216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2000"/>
              <a:buChar char="●"/>
            </a:pPr>
            <a:r>
              <a:rPr lang="en" sz="2000">
                <a:solidFill>
                  <a:srgbClr val="012169"/>
                </a:solidFill>
              </a:rPr>
              <a:t>In credit markets, tightly linked to:</a:t>
            </a:r>
            <a:endParaRPr sz="2000">
              <a:solidFill>
                <a:srgbClr val="012169"/>
              </a:solidFill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2000"/>
              <a:buChar char="○"/>
            </a:pPr>
            <a:r>
              <a:rPr lang="en" sz="2000">
                <a:solidFill>
                  <a:srgbClr val="012169"/>
                </a:solidFill>
              </a:rPr>
              <a:t>Credit scoring and underwriting</a:t>
            </a:r>
            <a:endParaRPr sz="2000">
              <a:solidFill>
                <a:srgbClr val="012169"/>
              </a:solidFill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2000"/>
              <a:buChar char="○"/>
            </a:pPr>
            <a:r>
              <a:rPr lang="en" sz="2000">
                <a:solidFill>
                  <a:srgbClr val="012169"/>
                </a:solidFill>
              </a:rPr>
              <a:t>Portfolio monitoring and capital planning.</a:t>
            </a:r>
            <a:endParaRPr sz="2000">
              <a:solidFill>
                <a:srgbClr val="01216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2000"/>
              <a:buChar char="●"/>
            </a:pPr>
            <a:r>
              <a:rPr lang="en" sz="2000">
                <a:solidFill>
                  <a:srgbClr val="012169"/>
                </a:solidFill>
              </a:rPr>
              <a:t>Credit scores and internal models shape:</a:t>
            </a:r>
            <a:endParaRPr sz="2000">
              <a:solidFill>
                <a:srgbClr val="012169"/>
              </a:solidFill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2000"/>
              <a:buChar char="○"/>
            </a:pPr>
            <a:r>
              <a:rPr lang="en" sz="2000">
                <a:solidFill>
                  <a:srgbClr val="012169"/>
                </a:solidFill>
              </a:rPr>
              <a:t>Who gets approved, at what limit, and at what price.</a:t>
            </a:r>
            <a:endParaRPr sz="2000">
              <a:solidFill>
                <a:srgbClr val="01216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300" b="1">
              <a:solidFill>
                <a:srgbClr val="005587"/>
              </a:solidFill>
            </a:endParaRPr>
          </a:p>
        </p:txBody>
      </p:sp>
      <p:sp>
        <p:nvSpPr>
          <p:cNvPr id="91" name="Google Shape;91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247400" y="347625"/>
            <a:ext cx="8572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600"/>
              <a:t>Major Career Paths in Risk Management</a:t>
            </a:r>
            <a:endParaRPr sz="2200"/>
          </a:p>
        </p:txBody>
      </p:sp>
      <p:sp>
        <p:nvSpPr>
          <p:cNvPr id="97" name="Google Shape;97;p19"/>
          <p:cNvSpPr txBox="1"/>
          <p:nvPr/>
        </p:nvSpPr>
        <p:spPr>
          <a:xfrm>
            <a:off x="247400" y="929825"/>
            <a:ext cx="7920600" cy="4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Credit Risk</a:t>
            </a:r>
            <a:endParaRPr sz="1300" b="1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Focus: borrowers not repaying.</a:t>
            </a:r>
            <a:endParaRPr sz="1300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Roles: Credit Risk Analyst, Credit Policy Analyst, Portfolio Risk Manager, Credit Risk Modeler.</a:t>
            </a:r>
            <a:endParaRPr sz="1300">
              <a:solidFill>
                <a:srgbClr val="012169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Market Risk</a:t>
            </a:r>
            <a:endParaRPr sz="1300" b="1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Focus: losses from interest rates, equity prices, FX, credit spreads.</a:t>
            </a:r>
            <a:endParaRPr sz="1300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Roles: Market Risk Analyst / Manager.</a:t>
            </a:r>
            <a:endParaRPr sz="1300">
              <a:solidFill>
                <a:srgbClr val="012169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Operational / Non-Financial Risk</a:t>
            </a:r>
            <a:endParaRPr sz="1300" b="1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Focus: processes, people, systems, external events (fraud, cyber, model implementation errors).</a:t>
            </a:r>
            <a:endParaRPr sz="1300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Roles: Operational Risk Analyst, Fraud Risk Manager.</a:t>
            </a:r>
            <a:endParaRPr sz="1300">
              <a:solidFill>
                <a:srgbClr val="012169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Model Risk Management (MRM) &amp; Quantitative Risk</a:t>
            </a:r>
            <a:endParaRPr sz="1300" b="1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Focus: models being wrong, misused, or poorly governed.</a:t>
            </a:r>
            <a:endParaRPr sz="1300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Roles: Model Risk Analyst, Model Validator, Quantitative Risk Specialist.</a:t>
            </a:r>
            <a:endParaRPr sz="1300">
              <a:solidFill>
                <a:srgbClr val="012169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Enterprise / Regulatory / Compliance Risk</a:t>
            </a:r>
            <a:endParaRPr sz="1300" b="1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Focus: firm-wide risk appetite, governance, and regulatory interaction.</a:t>
            </a:r>
            <a:endParaRPr sz="1300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Roles: Enterprise Risk Analyst, Risk Governance Associate, Regulatory Risk Analyst.</a:t>
            </a:r>
            <a:endParaRPr sz="1300">
              <a:solidFill>
                <a:srgbClr val="01216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rgbClr val="012169"/>
              </a:solidFill>
            </a:endParaRPr>
          </a:p>
        </p:txBody>
      </p:sp>
      <p:sp>
        <p:nvSpPr>
          <p:cNvPr id="98" name="Google Shape;9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247400" y="347625"/>
            <a:ext cx="8572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600"/>
              <a:t>Company Specific Roles Linked to the Project</a:t>
            </a:r>
            <a:endParaRPr sz="2200"/>
          </a:p>
        </p:txBody>
      </p:sp>
      <p:sp>
        <p:nvSpPr>
          <p:cNvPr id="104" name="Google Shape;104;p20"/>
          <p:cNvSpPr txBox="1"/>
          <p:nvPr/>
        </p:nvSpPr>
        <p:spPr>
          <a:xfrm>
            <a:off x="247400" y="929825"/>
            <a:ext cx="7920600" cy="40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12169"/>
              </a:buClr>
              <a:buSzPts val="1600"/>
              <a:buChar char="●"/>
            </a:pPr>
            <a:r>
              <a:rPr lang="en" sz="1600" b="1">
                <a:solidFill>
                  <a:srgbClr val="012169"/>
                </a:solidFill>
              </a:rPr>
              <a:t>Fannie Mae–Mortgage and Model-focused Risk Roles</a:t>
            </a:r>
            <a:endParaRPr sz="1600" b="1">
              <a:solidFill>
                <a:srgbClr val="012169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600"/>
              <a:buChar char="○"/>
            </a:pPr>
            <a:r>
              <a:rPr lang="en" sz="1600" b="1">
                <a:solidFill>
                  <a:srgbClr val="012169"/>
                </a:solidFill>
              </a:rPr>
              <a:t>Capital Markets Risk Senior Associate</a:t>
            </a:r>
            <a:r>
              <a:rPr lang="en" sz="1600">
                <a:solidFill>
                  <a:srgbClr val="012169"/>
                </a:solidFill>
              </a:rPr>
              <a:t>: Monitor risk on large portfolios and review risk metrics and reports.</a:t>
            </a:r>
            <a:endParaRPr sz="1600">
              <a:solidFill>
                <a:srgbClr val="012169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600"/>
              <a:buChar char="○"/>
            </a:pPr>
            <a:r>
              <a:rPr lang="en" sz="1600" b="1">
                <a:solidFill>
                  <a:srgbClr val="012169"/>
                </a:solidFill>
              </a:rPr>
              <a:t>Lead Quantitative Modeler</a:t>
            </a:r>
            <a:r>
              <a:rPr lang="en" sz="1600">
                <a:solidFill>
                  <a:srgbClr val="012169"/>
                </a:solidFill>
              </a:rPr>
              <a:t>: Develop models for mortgage cash flows, borrower behavior, stress testing using Python, SAS, and SQL</a:t>
            </a:r>
            <a:endParaRPr sz="1600">
              <a:solidFill>
                <a:srgbClr val="012169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600"/>
              <a:buChar char="●"/>
            </a:pPr>
            <a:r>
              <a:rPr lang="en" sz="1600" b="1">
                <a:solidFill>
                  <a:srgbClr val="012169"/>
                </a:solidFill>
              </a:rPr>
              <a:t>FICO–Software Delivery for Risk</a:t>
            </a:r>
            <a:endParaRPr sz="1600" b="1">
              <a:solidFill>
                <a:srgbClr val="012169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600"/>
              <a:buChar char="○"/>
            </a:pPr>
            <a:r>
              <a:rPr lang="en" sz="1600" b="1">
                <a:solidFill>
                  <a:srgbClr val="012169"/>
                </a:solidFill>
              </a:rPr>
              <a:t>Full Stack Engineer</a:t>
            </a:r>
            <a:r>
              <a:rPr lang="en" sz="1600">
                <a:solidFill>
                  <a:srgbClr val="012169"/>
                </a:solidFill>
              </a:rPr>
              <a:t>: Build and maintain enterprise decisioning platforms with embedded credit scores using Java, Spring, Angular, AWS, etc.</a:t>
            </a:r>
            <a:endParaRPr sz="1600">
              <a:solidFill>
                <a:srgbClr val="012169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600"/>
              <a:buChar char="●"/>
            </a:pPr>
            <a:r>
              <a:rPr lang="en" sz="1600" b="1">
                <a:solidFill>
                  <a:srgbClr val="012169"/>
                </a:solidFill>
              </a:rPr>
              <a:t>VantageScore–Research and Data Science for Credit Scoring</a:t>
            </a:r>
            <a:endParaRPr sz="1600" b="1">
              <a:solidFill>
                <a:srgbClr val="012169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600"/>
              <a:buChar char="○"/>
            </a:pPr>
            <a:r>
              <a:rPr lang="en" sz="1600" b="1">
                <a:solidFill>
                  <a:srgbClr val="012169"/>
                </a:solidFill>
              </a:rPr>
              <a:t>Senior Research Analyst – Economic and Consumer Insights</a:t>
            </a:r>
            <a:r>
              <a:rPr lang="en" sz="1600">
                <a:solidFill>
                  <a:srgbClr val="012169"/>
                </a:solidFill>
              </a:rPr>
              <a:t>: Analyze VantageScore credit data and macro consumer datasets, and produce reports and visualizations for lenders, regulators, and media</a:t>
            </a:r>
            <a:endParaRPr sz="1600">
              <a:solidFill>
                <a:srgbClr val="01216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rgbClr val="012169"/>
              </a:solidFill>
            </a:endParaRPr>
          </a:p>
        </p:txBody>
      </p:sp>
      <p:sp>
        <p:nvSpPr>
          <p:cNvPr id="105" name="Google Shape;105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247400" y="347625"/>
            <a:ext cx="8572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600"/>
              <a:t>Skill Requirements and Career Progression</a:t>
            </a:r>
            <a:endParaRPr sz="2200"/>
          </a:p>
        </p:txBody>
      </p:sp>
      <p:sp>
        <p:nvSpPr>
          <p:cNvPr id="111" name="Google Shape;111;p21"/>
          <p:cNvSpPr txBox="1"/>
          <p:nvPr/>
        </p:nvSpPr>
        <p:spPr>
          <a:xfrm>
            <a:off x="247400" y="929825"/>
            <a:ext cx="7920600" cy="38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12169"/>
              </a:buClr>
              <a:buSzPts val="1700"/>
              <a:buChar char="●"/>
            </a:pPr>
            <a:r>
              <a:rPr lang="en" sz="1700" b="1">
                <a:solidFill>
                  <a:srgbClr val="012169"/>
                </a:solidFill>
              </a:rPr>
              <a:t>Core skill mix across paths</a:t>
            </a:r>
            <a:endParaRPr sz="1700" b="1">
              <a:solidFill>
                <a:srgbClr val="012169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700"/>
              <a:buChar char="○"/>
            </a:pPr>
            <a:r>
              <a:rPr lang="en" sz="1700">
                <a:solidFill>
                  <a:srgbClr val="012169"/>
                </a:solidFill>
              </a:rPr>
              <a:t>Quantitative &amp; statistical skills</a:t>
            </a:r>
            <a:endParaRPr sz="1700">
              <a:solidFill>
                <a:srgbClr val="012169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700"/>
              <a:buChar char="○"/>
            </a:pPr>
            <a:r>
              <a:rPr lang="en" sz="1700">
                <a:solidFill>
                  <a:srgbClr val="012169"/>
                </a:solidFill>
              </a:rPr>
              <a:t>Data handling and programming (e.g., Python / R / SQL / SAS)</a:t>
            </a:r>
            <a:endParaRPr sz="1700">
              <a:solidFill>
                <a:srgbClr val="012169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700"/>
              <a:buChar char="○"/>
            </a:pPr>
            <a:r>
              <a:rPr lang="en" sz="1700">
                <a:solidFill>
                  <a:srgbClr val="012169"/>
                </a:solidFill>
              </a:rPr>
              <a:t>Financial product and credit-domain knowledge</a:t>
            </a:r>
            <a:endParaRPr sz="1700">
              <a:solidFill>
                <a:srgbClr val="012169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700"/>
              <a:buChar char="○"/>
            </a:pPr>
            <a:r>
              <a:rPr lang="en" sz="1700">
                <a:solidFill>
                  <a:srgbClr val="012169"/>
                </a:solidFill>
              </a:rPr>
              <a:t>Clear written and verbal communication for business and regulators.</a:t>
            </a:r>
            <a:endParaRPr sz="1700">
              <a:solidFill>
                <a:srgbClr val="012169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700"/>
              <a:buChar char="●"/>
            </a:pPr>
            <a:r>
              <a:rPr lang="en" sz="1700" b="1">
                <a:solidFill>
                  <a:srgbClr val="012169"/>
                </a:solidFill>
              </a:rPr>
              <a:t>Typical career progression</a:t>
            </a:r>
            <a:endParaRPr sz="1700" b="1">
              <a:solidFill>
                <a:srgbClr val="012169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700"/>
              <a:buChar char="○"/>
            </a:pPr>
            <a:r>
              <a:rPr lang="en" sz="1700">
                <a:solidFill>
                  <a:srgbClr val="012169"/>
                </a:solidFill>
              </a:rPr>
              <a:t>Start: Analyst in a specific area (e.g., credit risk, model risk).</a:t>
            </a:r>
            <a:endParaRPr sz="1700">
              <a:solidFill>
                <a:srgbClr val="012169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700"/>
              <a:buChar char="○"/>
            </a:pPr>
            <a:r>
              <a:rPr lang="en" sz="1700">
                <a:solidFill>
                  <a:srgbClr val="012169"/>
                </a:solidFill>
              </a:rPr>
              <a:t>Then:</a:t>
            </a:r>
            <a:endParaRPr sz="1700">
              <a:solidFill>
                <a:srgbClr val="012169"/>
              </a:solidFill>
            </a:endParaRPr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700"/>
              <a:buChar char="■"/>
            </a:pPr>
            <a:r>
              <a:rPr lang="en" sz="1700">
                <a:solidFill>
                  <a:srgbClr val="012169"/>
                </a:solidFill>
              </a:rPr>
              <a:t>More specialized technical expert, or</a:t>
            </a:r>
            <a:endParaRPr sz="1700">
              <a:solidFill>
                <a:srgbClr val="012169"/>
              </a:solidFill>
            </a:endParaRPr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700"/>
              <a:buChar char="■"/>
            </a:pPr>
            <a:r>
              <a:rPr lang="en" sz="1700">
                <a:solidFill>
                  <a:srgbClr val="012169"/>
                </a:solidFill>
              </a:rPr>
              <a:t>Broader portfolio / enterprise risk role, or</a:t>
            </a:r>
            <a:endParaRPr sz="1700">
              <a:solidFill>
                <a:srgbClr val="012169"/>
              </a:solidFill>
            </a:endParaRPr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700"/>
              <a:buChar char="■"/>
            </a:pPr>
            <a:r>
              <a:rPr lang="en" sz="1700">
                <a:solidFill>
                  <a:srgbClr val="012169"/>
                </a:solidFill>
              </a:rPr>
              <a:t>Leadership role facing senior management and regulators.</a:t>
            </a:r>
            <a:endParaRPr sz="1700">
              <a:solidFill>
                <a:srgbClr val="01216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b="1">
              <a:solidFill>
                <a:srgbClr val="012169"/>
              </a:solidFill>
            </a:endParaRPr>
          </a:p>
        </p:txBody>
      </p:sp>
      <p:sp>
        <p:nvSpPr>
          <p:cNvPr id="112" name="Google Shape;112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247400" y="347625"/>
            <a:ext cx="8572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100"/>
              <a:t>Technical Project</a:t>
            </a:r>
            <a:endParaRPr sz="31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700"/>
          </a:p>
        </p:txBody>
      </p:sp>
      <p:sp>
        <p:nvSpPr>
          <p:cNvPr id="118" name="Google Shape;118;p22"/>
          <p:cNvSpPr txBox="1"/>
          <p:nvPr/>
        </p:nvSpPr>
        <p:spPr>
          <a:xfrm>
            <a:off x="247400" y="929825"/>
            <a:ext cx="7920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005587"/>
                </a:solidFill>
              </a:rPr>
              <a:t>Survival Analysis for Mortgage Portfolio Risk Management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247400" y="347625"/>
            <a:ext cx="8572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600"/>
              <a:t>Background</a:t>
            </a:r>
            <a:endParaRPr sz="2200"/>
          </a:p>
        </p:txBody>
      </p:sp>
      <p:sp>
        <p:nvSpPr>
          <p:cNvPr id="125" name="Google Shape;125;p23"/>
          <p:cNvSpPr txBox="1"/>
          <p:nvPr/>
        </p:nvSpPr>
        <p:spPr>
          <a:xfrm>
            <a:off x="247400" y="929825"/>
            <a:ext cx="7920600" cy="19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Time-to-Default: Snapshot of loan life cycle</a:t>
            </a:r>
            <a:endParaRPr sz="1300" b="1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Accommodates time-varying risk</a:t>
            </a:r>
            <a:endParaRPr sz="1300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Lifetime PD estimates</a:t>
            </a:r>
            <a:endParaRPr sz="1300">
              <a:solidFill>
                <a:srgbClr val="012169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Cox Proportional Hazards</a:t>
            </a:r>
            <a:endParaRPr sz="1300" b="1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Instantaneous loan default risk</a:t>
            </a:r>
            <a:endParaRPr sz="1300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Proportional Hazards Assumption</a:t>
            </a:r>
            <a:endParaRPr sz="1300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Semi-Parametric Model: Flexibility</a:t>
            </a:r>
            <a:endParaRPr sz="1300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Survival Curves, hazard rates</a:t>
            </a:r>
            <a:endParaRPr sz="1300">
              <a:solidFill>
                <a:srgbClr val="012169"/>
              </a:solidFill>
            </a:endParaRPr>
          </a:p>
        </p:txBody>
      </p:sp>
      <p:sp>
        <p:nvSpPr>
          <p:cNvPr id="126" name="Google Shape;126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xfrm>
            <a:off x="247400" y="347625"/>
            <a:ext cx="8572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600"/>
              <a:t>Survival Analysis Framework</a:t>
            </a:r>
            <a:endParaRPr sz="2200"/>
          </a:p>
        </p:txBody>
      </p:sp>
      <p:sp>
        <p:nvSpPr>
          <p:cNvPr id="132" name="Google Shape;132;p24"/>
          <p:cNvSpPr txBox="1"/>
          <p:nvPr/>
        </p:nvSpPr>
        <p:spPr>
          <a:xfrm>
            <a:off x="247400" y="929825"/>
            <a:ext cx="7920600" cy="19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Proper Censoring Handling</a:t>
            </a:r>
            <a:endParaRPr sz="1300" b="1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Not qualified as default yet → needs to complete loan lifecycle</a:t>
            </a:r>
            <a:endParaRPr sz="1300">
              <a:solidFill>
                <a:srgbClr val="012169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Time-to-Event Information</a:t>
            </a:r>
            <a:endParaRPr sz="1300" b="1">
              <a:solidFill>
                <a:srgbClr val="012169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Loan A: Originated January 2015, current for 130 months (strong survival evidence)</a:t>
            </a:r>
            <a:endParaRPr sz="1300">
              <a:solidFill>
                <a:srgbClr val="012169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Loan B: Originated September 2024, current for 13 months (limited survival evidence)</a:t>
            </a:r>
            <a:endParaRPr>
              <a:solidFill>
                <a:srgbClr val="012169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Differential Risk over Time</a:t>
            </a:r>
            <a:endParaRPr sz="1300" b="1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Early default: Underwriting failures</a:t>
            </a:r>
            <a:endParaRPr sz="1300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Late default: Macroeconomic conditions</a:t>
            </a:r>
            <a:endParaRPr sz="1300">
              <a:solidFill>
                <a:srgbClr val="012169"/>
              </a:solidFill>
            </a:endParaRPr>
          </a:p>
        </p:txBody>
      </p:sp>
      <p:sp>
        <p:nvSpPr>
          <p:cNvPr id="133" name="Google Shape;133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247400" y="347625"/>
            <a:ext cx="8572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600"/>
              <a:t>Exploratory Data Analysis</a:t>
            </a:r>
            <a:endParaRPr sz="2200"/>
          </a:p>
        </p:txBody>
      </p:sp>
      <p:sp>
        <p:nvSpPr>
          <p:cNvPr id="139" name="Google Shape;139;p25"/>
          <p:cNvSpPr txBox="1"/>
          <p:nvPr/>
        </p:nvSpPr>
        <p:spPr>
          <a:xfrm>
            <a:off x="247400" y="929825"/>
            <a:ext cx="7920600" cy="15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Fannie Mae Single-Family Loan Performance</a:t>
            </a:r>
            <a:endParaRPr sz="1300" b="1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Features: total loans, delinquency events, Loan Age</a:t>
            </a:r>
            <a:endParaRPr sz="1300">
              <a:solidFill>
                <a:srgbClr val="012169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Observation Period: Oct. 2025</a:t>
            </a:r>
            <a:endParaRPr sz="1300" b="1">
              <a:solidFill>
                <a:srgbClr val="012169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FICO vs. VantageScore 4.0</a:t>
            </a:r>
            <a:endParaRPr sz="1300" b="1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Loan origination</a:t>
            </a:r>
            <a:endParaRPr sz="1300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Instantaneous scores</a:t>
            </a:r>
            <a:endParaRPr sz="1300">
              <a:solidFill>
                <a:srgbClr val="012169"/>
              </a:solidFill>
            </a:endParaRPr>
          </a:p>
        </p:txBody>
      </p:sp>
      <p:sp>
        <p:nvSpPr>
          <p:cNvPr id="140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17950"/>
            <a:ext cx="7754050" cy="202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>
            <a:spLocks noGrp="1"/>
          </p:cNvSpPr>
          <p:nvPr>
            <p:ph type="title"/>
          </p:nvPr>
        </p:nvSpPr>
        <p:spPr>
          <a:xfrm>
            <a:off x="247400" y="347625"/>
            <a:ext cx="8572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600"/>
              <a:t>Feature Engineering</a:t>
            </a:r>
            <a:endParaRPr sz="2200"/>
          </a:p>
        </p:txBody>
      </p:sp>
      <p:sp>
        <p:nvSpPr>
          <p:cNvPr id="147" name="Google Shape;147;p26"/>
          <p:cNvSpPr txBox="1"/>
          <p:nvPr/>
        </p:nvSpPr>
        <p:spPr>
          <a:xfrm>
            <a:off x="247400" y="929825"/>
            <a:ext cx="7920600" cy="13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Origination + Behavioral Features</a:t>
            </a:r>
            <a:endParaRPr sz="1300" b="1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Loan Age, Original Interest Rate, FICO, VS4</a:t>
            </a:r>
            <a:endParaRPr sz="1300">
              <a:solidFill>
                <a:srgbClr val="012169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Correlation Analysis</a:t>
            </a:r>
            <a:endParaRPr sz="1300" b="1">
              <a:solidFill>
                <a:srgbClr val="012169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Principal Component Analysis</a:t>
            </a:r>
            <a:endParaRPr sz="1300" b="1">
              <a:solidFill>
                <a:srgbClr val="012169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25 features extracted</a:t>
            </a:r>
            <a:endParaRPr sz="1300" b="1">
              <a:solidFill>
                <a:srgbClr val="012169"/>
              </a:solidFill>
            </a:endParaRPr>
          </a:p>
        </p:txBody>
      </p:sp>
      <p:sp>
        <p:nvSpPr>
          <p:cNvPr id="148" name="Google Shape;148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62225"/>
            <a:ext cx="5211774" cy="27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>
            <a:spLocks noGrp="1"/>
          </p:cNvSpPr>
          <p:nvPr>
            <p:ph type="title"/>
          </p:nvPr>
        </p:nvSpPr>
        <p:spPr>
          <a:xfrm>
            <a:off x="247400" y="347625"/>
            <a:ext cx="8572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600"/>
              <a:t>Harrell’s C-Index</a:t>
            </a:r>
            <a:endParaRPr sz="2200"/>
          </a:p>
        </p:txBody>
      </p:sp>
      <p:sp>
        <p:nvSpPr>
          <p:cNvPr id="155" name="Google Shape;155;p27"/>
          <p:cNvSpPr txBox="1"/>
          <p:nvPr/>
        </p:nvSpPr>
        <p:spPr>
          <a:xfrm>
            <a:off x="247400" y="929825"/>
            <a:ext cx="79914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Higher risk score assigned to default &gt; non-default</a:t>
            </a:r>
            <a:endParaRPr sz="1300" b="1">
              <a:solidFill>
                <a:srgbClr val="012169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Higher C-index =&gt; predictions is closer to default status</a:t>
            </a:r>
            <a:endParaRPr sz="1300" b="1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Ex. Loan </a:t>
            </a:r>
            <a:r>
              <a:rPr lang="en" sz="1300" i="1">
                <a:solidFill>
                  <a:srgbClr val="012169"/>
                </a:solidFill>
              </a:rPr>
              <a:t>j</a:t>
            </a:r>
            <a:r>
              <a:rPr lang="en" sz="1300">
                <a:solidFill>
                  <a:srgbClr val="012169"/>
                </a:solidFill>
              </a:rPr>
              <a:t> is older + has higher pred. prob. of lasting longer than loan </a:t>
            </a:r>
            <a:r>
              <a:rPr lang="en" sz="1300" i="1">
                <a:solidFill>
                  <a:srgbClr val="012169"/>
                </a:solidFill>
              </a:rPr>
              <a:t>i</a:t>
            </a:r>
            <a:endParaRPr sz="1300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Concordant pairs: loan </a:t>
            </a:r>
            <a:r>
              <a:rPr lang="en" sz="1300" i="1">
                <a:solidFill>
                  <a:srgbClr val="012169"/>
                </a:solidFill>
              </a:rPr>
              <a:t>i</a:t>
            </a:r>
            <a:r>
              <a:rPr lang="en" sz="1300">
                <a:solidFill>
                  <a:srgbClr val="012169"/>
                </a:solidFill>
              </a:rPr>
              <a:t> defaults before loan </a:t>
            </a:r>
            <a:r>
              <a:rPr lang="en" sz="1300" i="1">
                <a:solidFill>
                  <a:srgbClr val="012169"/>
                </a:solidFill>
              </a:rPr>
              <a:t>j</a:t>
            </a:r>
            <a:endParaRPr sz="1300" i="1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Discordant pairs: loan </a:t>
            </a:r>
            <a:r>
              <a:rPr lang="en" sz="1300" i="1">
                <a:solidFill>
                  <a:srgbClr val="012169"/>
                </a:solidFill>
              </a:rPr>
              <a:t>j </a:t>
            </a:r>
            <a:r>
              <a:rPr lang="en" sz="1300">
                <a:solidFill>
                  <a:srgbClr val="012169"/>
                </a:solidFill>
              </a:rPr>
              <a:t>defaults before loan </a:t>
            </a:r>
            <a:r>
              <a:rPr lang="en" sz="1300" i="1">
                <a:solidFill>
                  <a:srgbClr val="012169"/>
                </a:solidFill>
              </a:rPr>
              <a:t>i</a:t>
            </a:r>
            <a:endParaRPr sz="1300" i="1">
              <a:solidFill>
                <a:srgbClr val="012169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Usable pairs: both loans have default similar time periods</a:t>
            </a:r>
            <a:endParaRPr sz="1300">
              <a:solidFill>
                <a:srgbClr val="012169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●"/>
            </a:pPr>
            <a:r>
              <a:rPr lang="en" sz="1300" b="1">
                <a:solidFill>
                  <a:srgbClr val="012169"/>
                </a:solidFill>
              </a:rPr>
              <a:t>Our case: Low event rates =&gt; higher C-index</a:t>
            </a:r>
            <a:endParaRPr sz="1300">
              <a:solidFill>
                <a:srgbClr val="012169"/>
              </a:solidFill>
            </a:endParaRPr>
          </a:p>
        </p:txBody>
      </p:sp>
      <p:sp>
        <p:nvSpPr>
          <p:cNvPr id="156" name="Google Shape;156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157" name="Google Shape;157;p27" title="Screenshot 2025-12-08 at 9.09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95975"/>
            <a:ext cx="5296874" cy="124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>
            <a:spLocks noGrp="1"/>
          </p:cNvSpPr>
          <p:nvPr>
            <p:ph type="title"/>
          </p:nvPr>
        </p:nvSpPr>
        <p:spPr>
          <a:xfrm>
            <a:off x="247400" y="347625"/>
            <a:ext cx="8572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200"/>
              <a:t>Score freshness matters far more than score methodology.</a:t>
            </a:r>
            <a:endParaRPr sz="2200"/>
          </a:p>
        </p:txBody>
      </p:sp>
      <p:sp>
        <p:nvSpPr>
          <p:cNvPr id="163" name="Google Shape;163;p28"/>
          <p:cNvSpPr txBox="1"/>
          <p:nvPr/>
        </p:nvSpPr>
        <p:spPr>
          <a:xfrm>
            <a:off x="247400" y="1506500"/>
            <a:ext cx="7920600" cy="25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 b="1">
              <a:solidFill>
                <a:srgbClr val="01216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 b="1">
              <a:solidFill>
                <a:srgbClr val="01216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 b="1">
              <a:solidFill>
                <a:srgbClr val="01216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 b="1">
              <a:solidFill>
                <a:srgbClr val="012169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 b="1">
              <a:solidFill>
                <a:srgbClr val="01216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 b="1">
              <a:solidFill>
                <a:srgbClr val="012169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300" b="1">
              <a:solidFill>
                <a:srgbClr val="012169"/>
              </a:solidFill>
            </a:endParaRPr>
          </a:p>
        </p:txBody>
      </p:sp>
      <p:sp>
        <p:nvSpPr>
          <p:cNvPr id="164" name="Google Shape;164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graphicFrame>
        <p:nvGraphicFramePr>
          <p:cNvPr id="165" name="Google Shape;165;p28"/>
          <p:cNvGraphicFramePr/>
          <p:nvPr/>
        </p:nvGraphicFramePr>
        <p:xfrm>
          <a:off x="405300" y="1865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{A6D52B79-897F-4662-80DE-A01C78C6B533}</a:tableStyleId>
              </a:tblPr>
              <a:tblGrid>
                <a:gridCol w="198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900"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587">
                        <a:alpha val="894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C-Index</a:t>
                      </a:r>
                      <a:endParaRPr sz="900"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587">
                        <a:alpha val="894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Improvement vs FICO (Origination)</a:t>
                      </a:r>
                      <a:endParaRPr sz="900"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587">
                        <a:alpha val="894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FICO Score (Origination)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0.7342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VantageScore 4.0 (Origination)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0.7458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0.0116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Scores Combined (Origination)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0.7586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0.0221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FICO Current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0.9568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0.2226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6" name="Google Shape;166;p28"/>
          <p:cNvSpPr txBox="1"/>
          <p:nvPr/>
        </p:nvSpPr>
        <p:spPr>
          <a:xfrm>
            <a:off x="247400" y="944375"/>
            <a:ext cx="8052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b="1">
                <a:solidFill>
                  <a:srgbClr val="012169"/>
                </a:solidFill>
              </a:rPr>
              <a:t>How do FICO and VantageScore 4.0 compare in terms of predictive performance for mortgage credit risk?</a:t>
            </a:r>
            <a:endParaRPr sz="1800"/>
          </a:p>
        </p:txBody>
      </p:sp>
      <p:graphicFrame>
        <p:nvGraphicFramePr>
          <p:cNvPr id="167" name="Google Shape;167;p28"/>
          <p:cNvGraphicFramePr/>
          <p:nvPr/>
        </p:nvGraphicFramePr>
        <p:xfrm>
          <a:off x="4847625" y="2428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{78B65FD8-82B9-49DD-8972-F77D1719EEDC}</a:tableStyleId>
              </a:tblPr>
              <a:tblGrid>
                <a:gridCol w="12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Movement</a:t>
                      </a:r>
                      <a:endParaRPr sz="900"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587">
                        <a:alpha val="894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Percentage</a:t>
                      </a:r>
                      <a:endParaRPr sz="900"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587">
                        <a:alpha val="894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Improved (&gt;10 points)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40.7%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Stable (±10 points)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23.5%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Declined (&lt;10 points)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35.8%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8" name="Google Shape;168;p28"/>
          <p:cNvSpPr txBox="1"/>
          <p:nvPr/>
        </p:nvSpPr>
        <p:spPr>
          <a:xfrm>
            <a:off x="4847625" y="1964050"/>
            <a:ext cx="27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b="1">
                <a:solidFill>
                  <a:srgbClr val="012169"/>
                </a:solidFill>
              </a:rPr>
              <a:t>Score Evolution Over Time</a:t>
            </a:r>
            <a:endParaRPr sz="1600" b="1">
              <a:solidFill>
                <a:srgbClr val="01216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>
            <a:spLocks noGrp="1"/>
          </p:cNvSpPr>
          <p:nvPr>
            <p:ph type="title"/>
          </p:nvPr>
        </p:nvSpPr>
        <p:spPr>
          <a:xfrm>
            <a:off x="247400" y="347625"/>
            <a:ext cx="8572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200"/>
              <a:t>VS4 identifies 4,243 additional borrowers</a:t>
            </a:r>
            <a:endParaRPr sz="2200"/>
          </a:p>
        </p:txBody>
      </p:sp>
      <p:sp>
        <p:nvSpPr>
          <p:cNvPr id="174" name="Google Shape;174;p29"/>
          <p:cNvSpPr txBox="1"/>
          <p:nvPr/>
        </p:nvSpPr>
        <p:spPr>
          <a:xfrm>
            <a:off x="247400" y="1747225"/>
            <a:ext cx="4165200" cy="25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005587"/>
              </a:buClr>
              <a:buSzPts val="1200"/>
              <a:buAutoNum type="arabicPeriod"/>
            </a:pPr>
            <a:r>
              <a:rPr lang="en" sz="1300" b="1">
                <a:solidFill>
                  <a:srgbClr val="012169"/>
                </a:solidFill>
              </a:rPr>
              <a:t>High Agreement (96.6%)</a:t>
            </a:r>
            <a:r>
              <a:rPr lang="en" sz="1300">
                <a:solidFill>
                  <a:srgbClr val="012169"/>
                </a:solidFill>
              </a:rPr>
              <a:t>: FICO and VS4 agree on 96.6% of the portfolio</a:t>
            </a:r>
            <a:endParaRPr sz="1200">
              <a:solidFill>
                <a:srgbClr val="005587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200"/>
              <a:buAutoNum type="arabicPeriod"/>
            </a:pPr>
            <a:r>
              <a:rPr lang="en" sz="1300" b="1">
                <a:solidFill>
                  <a:srgbClr val="012169"/>
                </a:solidFill>
              </a:rPr>
              <a:t>VS4 More Accurate in Disagreement Zone: </a:t>
            </a:r>
            <a:endParaRPr sz="1200">
              <a:solidFill>
                <a:srgbClr val="005587"/>
              </a:solidFill>
            </a:endParaRPr>
          </a:p>
          <a:p>
            <a:pPr marL="914400" marR="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Borrowers approved by VS4 but rejected by FICO: 1.7% default rate</a:t>
            </a:r>
            <a:endParaRPr sz="1300">
              <a:solidFill>
                <a:srgbClr val="012169"/>
              </a:solidFill>
            </a:endParaRPr>
          </a:p>
          <a:p>
            <a:pPr marL="914400" marR="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Char char="○"/>
            </a:pPr>
            <a:r>
              <a:rPr lang="en" sz="1300">
                <a:solidFill>
                  <a:srgbClr val="012169"/>
                </a:solidFill>
              </a:rPr>
              <a:t>Borrowers approved by FICO but rejected by VS4: 2.02% default rate</a:t>
            </a:r>
            <a:endParaRPr sz="1200">
              <a:solidFill>
                <a:srgbClr val="005587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300"/>
              <a:buAutoNum type="arabicPeriod"/>
            </a:pPr>
            <a:r>
              <a:rPr lang="en" sz="1300" b="1">
                <a:solidFill>
                  <a:srgbClr val="012169"/>
                </a:solidFill>
              </a:rPr>
              <a:t>Credit Access Opportunity</a:t>
            </a:r>
            <a:r>
              <a:rPr lang="en" sz="1300">
                <a:solidFill>
                  <a:srgbClr val="012169"/>
                </a:solidFill>
              </a:rPr>
              <a:t>: VS4 identifies 4,243 borrowers (1.9% of portfolio) who could access credit despite FICO &lt; 660, with elevated but manageable risk</a:t>
            </a:r>
            <a:endParaRPr sz="1300" b="1">
              <a:solidFill>
                <a:srgbClr val="005587"/>
              </a:solidFill>
            </a:endParaRPr>
          </a:p>
        </p:txBody>
      </p:sp>
      <p:sp>
        <p:nvSpPr>
          <p:cNvPr id="175" name="Google Shape;175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176" name="Google Shape;176;p29"/>
          <p:cNvSpPr txBox="1"/>
          <p:nvPr/>
        </p:nvSpPr>
        <p:spPr>
          <a:xfrm>
            <a:off x="247400" y="944375"/>
            <a:ext cx="8052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b="1">
                <a:solidFill>
                  <a:srgbClr val="012169"/>
                </a:solidFill>
              </a:rPr>
              <a:t>To what extent do these scores differ in their treatment of “thin-file” or marginal borrowers?</a:t>
            </a:r>
            <a:endParaRPr sz="1800" b="1">
              <a:solidFill>
                <a:srgbClr val="012169"/>
              </a:solidFill>
            </a:endParaRPr>
          </a:p>
        </p:txBody>
      </p:sp>
      <p:pic>
        <p:nvPicPr>
          <p:cNvPr id="177" name="Google Shape;1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128800"/>
            <a:ext cx="4165275" cy="2082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>
            <a:spLocks noGrp="1"/>
          </p:cNvSpPr>
          <p:nvPr>
            <p:ph type="title"/>
          </p:nvPr>
        </p:nvSpPr>
        <p:spPr>
          <a:xfrm>
            <a:off x="247400" y="347625"/>
            <a:ext cx="8572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200"/>
              <a:t>A well-specified Cox model captures nearly all available predictive signals</a:t>
            </a:r>
            <a:endParaRPr sz="2200"/>
          </a:p>
        </p:txBody>
      </p:sp>
      <p:sp>
        <p:nvSpPr>
          <p:cNvPr id="183" name="Google Shape;183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184" name="Google Shape;184;p30"/>
          <p:cNvSpPr txBox="1"/>
          <p:nvPr/>
        </p:nvSpPr>
        <p:spPr>
          <a:xfrm>
            <a:off x="247400" y="978103"/>
            <a:ext cx="8052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b="1">
                <a:solidFill>
                  <a:srgbClr val="012169"/>
                </a:solidFill>
              </a:rPr>
              <a:t>Can an enhanced credit model, built on a richer set of features, deliver meaningful improvements in predictive power relative to FICO and VS4?</a:t>
            </a:r>
            <a:endParaRPr sz="1800" b="1">
              <a:solidFill>
                <a:srgbClr val="012169"/>
              </a:solidFill>
            </a:endParaRPr>
          </a:p>
        </p:txBody>
      </p:sp>
      <p:graphicFrame>
        <p:nvGraphicFramePr>
          <p:cNvPr id="185" name="Google Shape;185;p30"/>
          <p:cNvGraphicFramePr/>
          <p:nvPr/>
        </p:nvGraphicFramePr>
        <p:xfrm>
          <a:off x="405300" y="1865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{A6D52B79-897F-4662-80DE-A01C78C6B533}</a:tableStyleId>
              </a:tblPr>
              <a:tblGrid>
                <a:gridCol w="158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900"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587">
                        <a:alpha val="894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C-Index</a:t>
                      </a:r>
                      <a:endParaRPr sz="900"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587">
                        <a:alpha val="894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900" b="1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Features</a:t>
                      </a:r>
                      <a:endParaRPr sz="900" b="1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587">
                        <a:alpha val="894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FICO Only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0.7342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3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FICO + VS4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0.7586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FICO + VS4 </a:t>
                      </a: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Loan Characteristics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0.8855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Cox Model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0.9978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Cox Model + XGBoost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0.9983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2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8100" marR="38100" marT="0" marB="0">
                    <a:lnL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86" name="Google Shape;186;p30"/>
          <p:cNvPicPr preferRelativeResize="0"/>
          <p:nvPr/>
        </p:nvPicPr>
        <p:blipFill rotWithShape="1">
          <a:blip r:embed="rId3">
            <a:alphaModFix/>
          </a:blip>
          <a:srcRect t="5636" b="4613"/>
          <a:stretch/>
        </p:blipFill>
        <p:spPr>
          <a:xfrm>
            <a:off x="4191250" y="2355250"/>
            <a:ext cx="4365527" cy="195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 txBox="1"/>
          <p:nvPr/>
        </p:nvSpPr>
        <p:spPr>
          <a:xfrm>
            <a:off x="4847625" y="1964050"/>
            <a:ext cx="27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b="1">
                <a:solidFill>
                  <a:srgbClr val="012169"/>
                </a:solidFill>
              </a:rPr>
              <a:t>Risk Stratification</a:t>
            </a:r>
            <a:endParaRPr sz="1600" b="1">
              <a:solidFill>
                <a:srgbClr val="01216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/>
        </p:nvSpPr>
        <p:spPr>
          <a:xfrm>
            <a:off x="247400" y="1882650"/>
            <a:ext cx="8052600" cy="21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12169"/>
                </a:solidFill>
              </a:rPr>
              <a:t>Portfolio Risk Management (Existing Loans)</a:t>
            </a:r>
            <a:endParaRPr sz="1000" b="1">
              <a:solidFill>
                <a:srgbClr val="01216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12169"/>
                </a:solidFill>
              </a:rPr>
              <a:t>While lenders cannot retroactively change past origination decisions, the model enables proactive portfolio management:</a:t>
            </a:r>
            <a:endParaRPr sz="1000">
              <a:solidFill>
                <a:srgbClr val="012169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12169"/>
              </a:buClr>
              <a:buSzPts val="1000"/>
              <a:buChar char="●"/>
            </a:pPr>
            <a:r>
              <a:rPr lang="en" sz="1000" b="1">
                <a:solidFill>
                  <a:srgbClr val="012169"/>
                </a:solidFill>
              </a:rPr>
              <a:t>Early Intervention Programs</a:t>
            </a:r>
            <a:endParaRPr sz="1000">
              <a:solidFill>
                <a:srgbClr val="012169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000"/>
              <a:buChar char="●"/>
            </a:pPr>
            <a:r>
              <a:rPr lang="en" sz="1000" b="1">
                <a:solidFill>
                  <a:srgbClr val="012169"/>
                </a:solidFill>
              </a:rPr>
              <a:t>Risk-Based Servicing</a:t>
            </a:r>
            <a:endParaRPr sz="1000" b="1">
              <a:solidFill>
                <a:srgbClr val="01216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012169"/>
                </a:solidFill>
              </a:rPr>
              <a:t>The model supports Fannie Mae's dual mandate:</a:t>
            </a:r>
            <a:endParaRPr sz="1000" b="1">
              <a:solidFill>
                <a:srgbClr val="012169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12169"/>
              </a:buClr>
              <a:buSzPts val="1000"/>
              <a:buChar char="●"/>
            </a:pPr>
            <a:r>
              <a:rPr lang="en" sz="1000" b="1">
                <a:solidFill>
                  <a:srgbClr val="012169"/>
                </a:solidFill>
              </a:rPr>
              <a:t>Liquidity</a:t>
            </a:r>
            <a:r>
              <a:rPr lang="en" sz="1000">
                <a:solidFill>
                  <a:srgbClr val="012169"/>
                </a:solidFill>
              </a:rPr>
              <a:t>: Accurate risk assessment enables better capital allocation</a:t>
            </a:r>
            <a:endParaRPr sz="1000">
              <a:solidFill>
                <a:srgbClr val="012169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000"/>
              <a:buChar char="●"/>
            </a:pPr>
            <a:r>
              <a:rPr lang="en" sz="1000" b="1">
                <a:solidFill>
                  <a:srgbClr val="012169"/>
                </a:solidFill>
              </a:rPr>
              <a:t>Access</a:t>
            </a:r>
            <a:r>
              <a:rPr lang="en" sz="1000">
                <a:solidFill>
                  <a:srgbClr val="012169"/>
                </a:solidFill>
              </a:rPr>
              <a:t>: Identifies 1,146 creditworthy thin-file borrowers</a:t>
            </a:r>
            <a:endParaRPr sz="1000">
              <a:solidFill>
                <a:srgbClr val="012169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000"/>
              <a:buChar char="●"/>
            </a:pPr>
            <a:r>
              <a:rPr lang="en" sz="1000" b="1">
                <a:solidFill>
                  <a:srgbClr val="012169"/>
                </a:solidFill>
              </a:rPr>
              <a:t>Safety &amp; Soundness:</a:t>
            </a:r>
            <a:r>
              <a:rPr lang="en" sz="1000">
                <a:solidFill>
                  <a:srgbClr val="012169"/>
                </a:solidFill>
              </a:rPr>
              <a:t> Net -5 defaults despite expanded access.</a:t>
            </a:r>
            <a:endParaRPr sz="1000">
              <a:solidFill>
                <a:srgbClr val="012169"/>
              </a:solidFill>
            </a:endParaRPr>
          </a:p>
        </p:txBody>
      </p:sp>
      <p:sp>
        <p:nvSpPr>
          <p:cNvPr id="193" name="Google Shape;193;p31"/>
          <p:cNvSpPr txBox="1">
            <a:spLocks noGrp="1"/>
          </p:cNvSpPr>
          <p:nvPr>
            <p:ph type="title"/>
          </p:nvPr>
        </p:nvSpPr>
        <p:spPr>
          <a:xfrm>
            <a:off x="247400" y="347625"/>
            <a:ext cx="8572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200"/>
              <a:t>Enhanced modeling achieves access and safety simultaneously</a:t>
            </a:r>
            <a:endParaRPr sz="2200"/>
          </a:p>
        </p:txBody>
      </p:sp>
      <p:sp>
        <p:nvSpPr>
          <p:cNvPr id="194" name="Google Shape;194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195" name="Google Shape;195;p31"/>
          <p:cNvSpPr txBox="1"/>
          <p:nvPr/>
        </p:nvSpPr>
        <p:spPr>
          <a:xfrm>
            <a:off x="247400" y="978103"/>
            <a:ext cx="8052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b="1">
                <a:solidFill>
                  <a:srgbClr val="012169"/>
                </a:solidFill>
              </a:rPr>
              <a:t>What are the implications of such improvements for credit risk management and financial inclusion?</a:t>
            </a:r>
            <a:endParaRPr sz="1800" b="1">
              <a:solidFill>
                <a:srgbClr val="01216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>
            <a:spLocks noGrp="1"/>
          </p:cNvSpPr>
          <p:nvPr>
            <p:ph type="title"/>
          </p:nvPr>
        </p:nvSpPr>
        <p:spPr>
          <a:xfrm>
            <a:off x="163075" y="1511225"/>
            <a:ext cx="8572500" cy="18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44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4400"/>
              <a:t>Thank you!</a:t>
            </a:r>
            <a:endParaRPr sz="4400"/>
          </a:p>
        </p:txBody>
      </p:sp>
      <p:sp>
        <p:nvSpPr>
          <p:cNvPr id="201" name="Google Shape;201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1349</Words>
  <Application>Microsoft Macintosh PowerPoint</Application>
  <PresentationFormat>On-screen Show (16:9)</PresentationFormat>
  <Paragraphs>202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Open Sans</vt:lpstr>
      <vt:lpstr>Arial</vt:lpstr>
      <vt:lpstr>Calibri</vt:lpstr>
      <vt:lpstr>Times New Roman</vt:lpstr>
      <vt:lpstr>Simple Light</vt:lpstr>
      <vt:lpstr>PowerPoint Presentation</vt:lpstr>
      <vt:lpstr>Introduction - Motivation &amp; Research Topic</vt:lpstr>
      <vt:lpstr>Non-Technical Project </vt:lpstr>
      <vt:lpstr>What Is Risk Management (and Why It Matters)? </vt:lpstr>
      <vt:lpstr>Major Career Paths in Risk Management</vt:lpstr>
      <vt:lpstr>Company Specific Roles Linked to the Project</vt:lpstr>
      <vt:lpstr>Skill Requirements and Career Progression</vt:lpstr>
      <vt:lpstr>Technical Project </vt:lpstr>
      <vt:lpstr>Background</vt:lpstr>
      <vt:lpstr>Survival Analysis Framework</vt:lpstr>
      <vt:lpstr>Exploratory Data Analysis</vt:lpstr>
      <vt:lpstr>Feature Engineering</vt:lpstr>
      <vt:lpstr>Harrell’s C-Index</vt:lpstr>
      <vt:lpstr>Score freshness matters far more than score methodology.</vt:lpstr>
      <vt:lpstr>VS4 identifies 4,243 additional borrowers</vt:lpstr>
      <vt:lpstr>A well-specified Cox model captures nearly all available predictive signals</vt:lpstr>
      <vt:lpstr>Enhanced modeling achieves access and safety simultaneously</vt:lpstr>
      <vt:lpstr> 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Vishesh Gupta</cp:lastModifiedBy>
  <cp:revision>1</cp:revision>
  <dcterms:modified xsi:type="dcterms:W3CDTF">2025-12-09T08:15:55Z</dcterms:modified>
</cp:coreProperties>
</file>